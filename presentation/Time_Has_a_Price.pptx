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06a4e1039ae4fc4" /><Relationship Type="http://schemas.openxmlformats.org/officeDocument/2006/relationships/extended-properties" Target="/docProps/app.xml" Id="R34bab81c5ef64873" /><Relationship Type="http://schemas.openxmlformats.org/officeDocument/2006/relationships/officeDocument" Target="/ppt/presentation.xml" Id="R1e2e9e4cbd6e42ee" /></Relationships>
</file>

<file path=ppt/presentation.xml><?xml version="1.0" encoding="utf-8"?>
<p:presentation xmlns:p="http://schemas.openxmlformats.org/presentationml/2006/main">
  <p:sldMasterIdLst>
    <p:sldMasterId xmlns:r="http://schemas.openxmlformats.org/officeDocument/2006/relationships" id="2147483648" r:id="Re52f5d7ef2194dea"/>
  </p:sldMasterIdLst>
  <p:notesMasterIdLst>
    <p:notesMasterId xmlns:r="http://schemas.openxmlformats.org/officeDocument/2006/relationships" r:id="R571ed7bd391d4549"/>
  </p:notesMasterIdLst>
  <p:sldIdLst>
    <p:sldId xmlns:r="http://schemas.openxmlformats.org/officeDocument/2006/relationships" id="256" r:id="R5ccf889e867c404f"/>
    <p:sldId xmlns:r="http://schemas.openxmlformats.org/officeDocument/2006/relationships" id="257" r:id="Rc04ff0d486864968"/>
    <p:sldId xmlns:r="http://schemas.openxmlformats.org/officeDocument/2006/relationships" id="258" r:id="Rad9e8fa82edb4b19"/>
    <p:sldId xmlns:r="http://schemas.openxmlformats.org/officeDocument/2006/relationships" id="259" r:id="R304e5193094e40c3"/>
    <p:sldId xmlns:r="http://schemas.openxmlformats.org/officeDocument/2006/relationships" id="260" r:id="Rf2bdc41c58564b7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33c302251294345" /><Relationship Type="http://schemas.openxmlformats.org/officeDocument/2006/relationships/slideMaster" Target="/ppt/slideMasters/slideMaster1.xml" Id="Re52f5d7ef2194dea" /><Relationship Type="http://schemas.openxmlformats.org/officeDocument/2006/relationships/notesMaster" Target="/ppt/notesMasters/notesMaster1.xml" Id="R571ed7bd391d4549" /><Relationship Type="http://schemas.openxmlformats.org/officeDocument/2006/relationships/presProps" Target="/ppt/presProps.xml" Id="R41d25718806e4316" /><Relationship Type="http://schemas.openxmlformats.org/officeDocument/2006/relationships/tableStyles" Target="/ppt/tableStyles.xml" Id="Rb539eea461074987" /><Relationship Type="http://schemas.openxmlformats.org/officeDocument/2006/relationships/slide" Target="/ppt/slides/slide1.xml" Id="R5ccf889e867c404f" /><Relationship Type="http://schemas.openxmlformats.org/officeDocument/2006/relationships/slide" Target="/ppt/slides/slide2.xml" Id="Rc04ff0d486864968" /><Relationship Type="http://schemas.openxmlformats.org/officeDocument/2006/relationships/slide" Target="/ppt/slides/slide3.xml" Id="Rad9e8fa82edb4b19" /><Relationship Type="http://schemas.openxmlformats.org/officeDocument/2006/relationships/slide" Target="/ppt/slides/slide4.xml" Id="R304e5193094e40c3" /><Relationship Type="http://schemas.openxmlformats.org/officeDocument/2006/relationships/slide" Target="/ppt/slides/slide5.xml" Id="Rf2bdc41c58564b7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bae1a6ae29a41b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366d9e61a0e4838" /><Relationship Type="http://schemas.openxmlformats.org/officeDocument/2006/relationships/notesMaster" Target="/ppt/notesMasters/notesMaster1.xml" Id="R79fe9da8f33b484e" /></Relationships>
</file>

<file path=ppt/notesSlides/_rels/notesSlide2.xml.rels>&#65279;<?xml version="1.0" encoding="utf-8"?><Relationships xmlns="http://schemas.openxmlformats.org/package/2006/relationships"><Relationship Type="http://schemas.openxmlformats.org/officeDocument/2006/relationships/slide" Target="/ppt/slides/slide2.xml" Id="R0ed3e74fc9084d97" /><Relationship Type="http://schemas.openxmlformats.org/officeDocument/2006/relationships/notesMaster" Target="/ppt/notesMasters/notesMaster1.xml" Id="R04fc0fac06194c2c" /></Relationships>
</file>

<file path=ppt/notesSlides/_rels/notesSlide3.xml.rels>&#65279;<?xml version="1.0" encoding="utf-8"?><Relationships xmlns="http://schemas.openxmlformats.org/package/2006/relationships"><Relationship Type="http://schemas.openxmlformats.org/officeDocument/2006/relationships/slide" Target="/ppt/slides/slide3.xml" Id="Rf7799860e2a94eda" /><Relationship Type="http://schemas.openxmlformats.org/officeDocument/2006/relationships/notesMaster" Target="/ppt/notesMasters/notesMaster1.xml" Id="R86f23e52340c4b69" /></Relationships>
</file>

<file path=ppt/notesSlides/_rels/notesSlide4.xml.rels>&#65279;<?xml version="1.0" encoding="utf-8"?><Relationships xmlns="http://schemas.openxmlformats.org/package/2006/relationships"><Relationship Type="http://schemas.openxmlformats.org/officeDocument/2006/relationships/slide" Target="/ppt/slides/slide4.xml" Id="Rce6e5f31476f4869" /><Relationship Type="http://schemas.openxmlformats.org/officeDocument/2006/relationships/notesMaster" Target="/ppt/notesMasters/notesMaster1.xml" Id="R7d67436a2b254ef7" /></Relationships>
</file>

<file path=ppt/notesSlides/_rels/notesSlide5.xml.rels>&#65279;<?xml version="1.0" encoding="utf-8"?><Relationships xmlns="http://schemas.openxmlformats.org/package/2006/relationships"><Relationship Type="http://schemas.openxmlformats.org/officeDocument/2006/relationships/slide" Target="/ppt/slides/slide5.xml" Id="Rb8bb2955b91a4603" /><Relationship Type="http://schemas.openxmlformats.org/officeDocument/2006/relationships/notesMaster" Target="/ppt/notesMasters/notesMaster1.xml" Id="R3f7ba29e6f11430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 | 0:00–0:25</a:t>
            </a:r>
          </a:p>
          <a:p xmlns:a="http://schemas.openxmlformats.org/drawingml/2006/main">
            <a:r>
              <a:t>Most trading models ask how much money we can make. We ask what waiting costs. Our mathematical decision lab explores when to continue, buy more time, or stop.</a:t>
            </a:r>
          </a:p>
          <a:p xmlns:a="http://schemas.openxmlformats.org/drawingml/2006/main">
            <a:r>
              <a:t>The cover is a symbolic AI-generated illustration, not research evidence.</a:t>
            </a:r>
          </a:p>
          <a:p xmlns:a="http://schemas.openxmlformats.org/drawingml/2006/main">
            <a:r>
              <a:t/>
            </a:r>
          </a:p>
          <a:p xmlns:a="http://schemas.openxmlformats.org/drawingml/2006/main">
            <a:r>
              <a:t>Sources</a:t>
            </a:r>
          </a:p>
          <a:p xmlns:a="http://schemas.openxmlformats.org/drawingml/2006/main">
            <a:r>
              <a:t>Project: final_submission/PROJECT_DESCRIPTION.txt</a:t>
            </a:r>
          </a:p>
          <a:p xmlns:a="http://schemas.openxmlformats.org/drawingml/2006/main">
            <a:r>
              <a:t>Cover asset: presentation_final/assets/cover-hourglass.png; built-in image_gen. Full prompt: presentation_final/assets/cover_asset_notes.txt</a:t>
            </a:r>
          </a:p>
          <a:p xmlns:a="http://schemas.openxmlformats.org/drawingml/2006/main">
            <a:r>
              <a:t>Market data: https://github.com/binance/binance-public-data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 | 0:25–0:55</a:t>
            </a:r>
          </a:p>
          <a:p xmlns:a="http://schemas.openxmlformats.org/drawingml/2006/main">
            <a:r>
              <a:t>Each account starts with 100 cash and a limited time budget. Every day consumes five budget seconds. We choose among seven actions: exit, or each of three exposures with or without buying a time pack. The score values final cash and remaining time. Logarithms represent diminishing marginal value.</a:t>
            </a:r>
          </a:p>
          <a:p xmlns:a="http://schemas.openxmlformats.org/drawingml/2006/main">
            <a:r>
              <a:t>In a full state we retain cash, holdings, remaining time, packs used, market state and planning steps left. The planner maximizes expected future utility by finite-horizon Bellman recursion. Future actions respond only after new information arrives.</a:t>
            </a:r>
          </a:p>
          <a:p xmlns:a="http://schemas.openxmlformats.org/drawingml/2006/main">
            <a:r>
              <a:t>B is cash after liquidation and an optional final cash-for-time exchange. Exit includes that same settlement option for every constrained controller. If the budget reaches zero, wealth and utility are lost under the specified penalty. At most six packs are available. Only wealth uses grid interpolation; we do not claim an exact optimum for continuous markets.</a:t>
            </a:r>
          </a:p>
          <a:p xmlns:a="http://schemas.openxmlformats.org/drawingml/2006/main">
            <a:r>
              <a:t/>
            </a:r>
          </a:p>
          <a:p xmlns:a="http://schemas.openxmlformats.org/drawingml/2006/main">
            <a:r>
              <a:t>Sources</a:t>
            </a:r>
          </a:p>
          <a:p xmlns:a="http://schemas.openxmlformats.org/drawingml/2006/main">
            <a:r>
              <a:t>long_horizon_v3/long_planner.py: FullHorizonPlanner</a:t>
            </a:r>
          </a:p>
          <a:p xmlns:a="http://schemas.openxmlformats.org/drawingml/2006/main">
            <a:r>
              <a:t>time_budget_policy_v2/planner.py: utility and _terminal_conversion</a:t>
            </a:r>
          </a:p>
          <a:p xmlns:a="http://schemas.openxmlformats.org/drawingml/2006/main">
            <a:r>
              <a:t>long_horizon_v3/protocol.json</a:t>
            </a:r>
          </a:p>
          <a:p xmlns:a="http://schemas.openxmlformats.org/drawingml/2006/main">
            <a:r>
              <a:t>final_submission/MODEL_README.txt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 | 0:55–1:25</a:t>
            </a:r>
          </a:p>
          <a:p xmlns:a="http://schemas.openxmlformats.org/drawingml/2006/main">
            <a:r>
              <a:t>We estimated a four-state model from BTC 2022–2025 and froze it. We replayed BTC and ETH from January to September 2026. At this baseline both planners stop with 100 cash and 90 budget seconds. The budget-limited EMA keeps slightly more cash but only five seconds. More cash alone does not settle the decision.</a:t>
            </a:r>
          </a:p>
          <a:p xmlns:a="http://schemas.openxmlformats.org/drawingml/2006/main">
            <a:r>
              <a:t>The comparison contains 24 fixed settings, two assets, 213 overlapping starts and six controllers: 61,344 accounts. These are not independent trials. The moving average uses public 15/30-day EMA signals available before the next open. Fees are 0.1% each way plus 0.05% adverse slippage. A frozen kernel does not make this a new blind test; 2026 history was already inspected.</a:t>
            </a:r>
          </a:p>
          <a:p xmlns:a="http://schemas.openxmlformats.org/drawingml/2006/main">
            <a:r>
              <a:t>In this table EMA with a budget means budget-limited EMA. EMA buying packs means EMA with mechanical purchases. The latter spends 14.910798 cash on time; its trading P&amp;L is +0.254613. Do not describe the whole decline in cash as trading losses. Original unrestricted EMA cash is 100.592238, shown separately in the report because its time utility is not comparable.</a:t>
            </a:r>
          </a:p>
          <a:p xmlns:a="http://schemas.openxmlformats.org/drawingml/2006/main">
            <a:r>
              <a:t/>
            </a:r>
          </a:p>
          <a:p xmlns:a="http://schemas.openxmlformats.org/drawingml/2006/main">
            <a:r>
              <a:t>Sources</a:t>
            </a:r>
          </a:p>
          <a:p xmlns:a="http://schemas.openxmlformats.org/drawingml/2006/main">
            <a:r>
              <a:t>long_horizon_v3/results.json: pack_cost=8, alpha=0.1, life_initial=90, BTCUSDT</a:t>
            </a:r>
          </a:p>
          <a:p xmlns:a="http://schemas.openxmlformats.org/drawingml/2006/main">
            <a:r>
              <a:t>long_horizon_v3/protocol.json</a:t>
            </a:r>
          </a:p>
          <a:p xmlns:a="http://schemas.openxmlformats.org/drawingml/2006/main">
            <a:r>
              <a:t>https://github.com/binance/binance-public-data</a:t>
            </a:r>
          </a:p>
          <a:p xmlns:a="http://schemas.openxmlformats.org/drawingml/2006/main">
            <a:r>
              <a:t>EMA reference: https://github.com/QuantConnect/Lean/blob/979bd9baef79206b21de257f52601be28d5ab767/Algorithm.Python/MovingAverageCrossAlgorithm.py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 | 1:25–2:25, including live report</a:t>
            </a:r>
          </a:p>
          <a:p xmlns:a="http://schemas.openxmlformats.org/drawingml/2006/main">
            <a:r>
              <a:t>Switch to the browser report, show the baseline and click Show a changed decision. At price 8, alpha 0.02 and initial budget 45, the two-step planner exits while the 30-step planner continues at 100%. It accounts for future opportunities to observe and react, without seeing future prices. Then point to the historical interval, which includes zero. Return to slide 5.</a:t>
            </a:r>
          </a:p>
          <a:p xmlns:a="http://schemas.openxmlformats.org/drawingml/2006/main">
            <a:r>
              <a:t>This slide is the exact saved fallback if the live report fails. Expected Q gaps at L=45: -0.00012873488455145132 (two steps) and +0.0007217045386195275 (full30). Full30 minus two-step realized utility for the BTC setting is -0.000707653; block length30 interval is [-0.003254356,+0.001074135].</a:t>
            </a:r>
          </a:p>
          <a:p xmlns:a="http://schemas.openxmlformats.org/drawingml/2006/main">
            <a:r>
              <a:t>Chart: frozen model, market state1, cash100, holdings0, price8, alpha0.02; sampled budgets20,45,90,120. Lines connect sampled model values only. Exit threshold is zero. The plot is not a forecast of the actual 2026 price path.</a:t>
            </a:r>
          </a:p>
          <a:p xmlns:a="http://schemas.openxmlformats.org/drawingml/2006/main">
            <a:r>
              <a:t/>
            </a:r>
          </a:p>
          <a:p xmlns:a="http://schemas.openxmlformats.org/drawingml/2006/main">
            <a:r>
              <a:t>Sources</a:t>
            </a:r>
          </a:p>
          <a:p xmlns:a="http://schemas.openxmlformats.org/drawingml/2006/main">
            <a:r>
              <a:t>time_value_report/src/data.json: reviewed query long_regions</a:t>
            </a:r>
          </a:p>
          <a:p xmlns:a="http://schemas.openxmlformats.org/drawingml/2006/main">
            <a:r>
              <a:t>long_horizon_v3/refinements.json</a:t>
            </a:r>
          </a:p>
          <a:p xmlns:a="http://schemas.openxmlformats.org/drawingml/2006/main">
            <a:r>
              <a:t>long_horizon_v3/results.json</a:t>
            </a:r>
          </a:p>
          <a:p xmlns:a="http://schemas.openxmlformats.org/drawingml/2006/main">
            <a:r>
              <a:t>Live demo: http://127.0.0.1:4174/?view=1 (local machine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 | 2:25–3:00</a:t>
            </a:r>
          </a:p>
          <a:p xmlns:a="http://schemas.openxmlformats.org/drawingml/2006/main">
            <a:r>
              <a:t>Our deliberately overengineered result is that we built a 30-step optimizer to discover when the best trade is to leave. Market prices are real, but time units and preferences are assumptions. We still need an unseen evaluation. Sometimes the most useful decision is to stop.</a:t>
            </a:r>
          </a:p>
          <a:p xmlns:a="http://schemas.openxmlformats.org/drawingml/2006/main">
            <a:r>
              <a:t>The paid-purchase result refers to the 30-step planner during historical trading at prices8 and2 across the registered settings. There are65 free-purchase events in51 overlapping accounts at price0. Paid purchases after exit are a separate terminal exchange, not extra trading opportunities. Main setting throughout this deck means price8, alpha0.1, initial budget90.</a:t>
            </a:r>
          </a:p>
          <a:p xmlns:a="http://schemas.openxmlformats.org/drawingml/2006/main">
            <a:r>
              <a:t>The numerical solution interpolates wealth. Finer-grid checks on64 initial and1,139 historical states at price8 changed no actions, but do not establish a global approximation bound or stable financial advantage. We used AI assistance for coding, analysis and interface production. No live AI or trading API is required to run the demo.</a:t>
            </a:r>
          </a:p>
          <a:p xmlns:a="http://schemas.openxmlformats.org/drawingml/2006/main">
            <a:r>
              <a:t/>
            </a:r>
          </a:p>
          <a:p xmlns:a="http://schemas.openxmlformats.org/drawingml/2006/main">
            <a:r>
              <a:t>Sources</a:t>
            </a:r>
          </a:p>
          <a:p xmlns:a="http://schemas.openxmlformats.org/drawingml/2006/main">
            <a:r>
              <a:t>long_horizon_v3/purchase_cases.json</a:t>
            </a:r>
          </a:p>
          <a:p xmlns:a="http://schemas.openxmlformats.org/drawingml/2006/main">
            <a:r>
              <a:t>long_horizon_v3/verification.json</a:t>
            </a:r>
          </a:p>
          <a:p xmlns:a="http://schemas.openxmlformats.org/drawingml/2006/main">
            <a:r>
              <a:t>long_horizon_v3/test_long_planner.py</a:t>
            </a:r>
          </a:p>
          <a:p xmlns:a="http://schemas.openxmlformats.org/drawingml/2006/main">
            <a:r>
              <a:t>final_submission/PROJECT_DESCRIPTION.txt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421272421094ad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94987cf6a7845e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a2f9b1dc2e14dc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c7e4842503c4b6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1a51b03e3994ce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ff8662e0ded458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0C5859C-6BFB-49A4-BBAC-2A57A2DA721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D26DF86-7798-4417-BDA8-F9E2F8EC8AD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CC927D3-9B87-4570-A414-1E3011D30BE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41656DF-3C62-4495-BF49-E64EB69C01E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4CCF854-5700-4A26-BCCA-77525D7B5BD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4618859-3768-4243-9C2A-C09C92D9D36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2644411-65F7-4E33-88F2-6587729CEAF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7D3BE0D-284D-47F6-9324-53A438C21CF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7A7B046-075E-4AE7-B6BB-482636E081A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AF40F73-6C5B-4A0E-A0E5-16760A3E7FE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81ca668ea704336" /><Relationship Type="http://schemas.openxmlformats.org/officeDocument/2006/relationships/slideLayout" Target="/ppt/slideLayouts/slideLayout1.xml" Id="R85c9093628434f2d" /><Relationship Type="http://schemas.openxmlformats.org/officeDocument/2006/relationships/slideLayout" Target="/ppt/slideLayouts/slideLayout2.xml" Id="R081a89dd489549a1" /><Relationship Type="http://schemas.openxmlformats.org/officeDocument/2006/relationships/slideLayout" Target="/ppt/slideLayouts/slideLayout3.xml" Id="R5b35330d0ee14df3" /><Relationship Type="http://schemas.openxmlformats.org/officeDocument/2006/relationships/slideLayout" Target="/ppt/slideLayouts/slideLayout4.xml" Id="R18744096d6244e99" /><Relationship Type="http://schemas.openxmlformats.org/officeDocument/2006/relationships/slideLayout" Target="/ppt/slideLayouts/slideLayout5.xml" Id="Rfd3ba1da063c4672" /><Relationship Type="http://schemas.openxmlformats.org/officeDocument/2006/relationships/slideLayout" Target="/ppt/slideLayouts/slideLayout6.xml" Id="R7e10a15316ee41d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5c9093628434f2d"/>
    <p:sldLayoutId xmlns:r="http://schemas.openxmlformats.org/officeDocument/2006/relationships" id="2147483650" r:id="R081a89dd489549a1"/>
    <p:sldLayoutId xmlns:r="http://schemas.openxmlformats.org/officeDocument/2006/relationships" id="2147483651" r:id="R5b35330d0ee14df3"/>
    <p:sldLayoutId xmlns:r="http://schemas.openxmlformats.org/officeDocument/2006/relationships" id="2147483652" r:id="R18744096d6244e99"/>
    <p:sldLayoutId xmlns:r="http://schemas.openxmlformats.org/officeDocument/2006/relationships" id="2147483653" r:id="Rfd3ba1da063c4672"/>
    <p:sldLayoutId xmlns:r="http://schemas.openxmlformats.org/officeDocument/2006/relationships" id="2147483654" r:id="R7e10a15316ee41d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b677ff140fb4d0d" /><Relationship Type="http://schemas.openxmlformats.org/officeDocument/2006/relationships/image" Target="/ppt/media/image.png" Id="R0fb2a6747c594776" /><Relationship Type="http://schemas.openxmlformats.org/officeDocument/2006/relationships/notesSlide" Target="/ppt/notesSlides/notesSlide1.xml" Id="Re44ac986a3f74d6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c9df54eb02742f2" /><Relationship Type="http://schemas.openxmlformats.org/officeDocument/2006/relationships/notesSlide" Target="/ppt/notesSlides/notesSlide2.xml" Id="Rd61aae32f017468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7592d8e42ee4d76" /><Relationship Type="http://schemas.openxmlformats.org/officeDocument/2006/relationships/notesSlide" Target="/ppt/notesSlides/notesSlide3.xml" Id="R887260cd990b4ca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92d95ad3ebb43e7" /><Relationship Type="http://schemas.openxmlformats.org/officeDocument/2006/relationships/chart" Target="/ppt/slides/charts/chart1.xml" Id="Rf5d1b4d2c82245c6" /><Relationship Type="http://schemas.openxmlformats.org/officeDocument/2006/relationships/notesSlide" Target="/ppt/notesSlides/notesSlide4.xml" Id="R334c9baad13b472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d2b0fc4e99e491f" /><Relationship Type="http://schemas.openxmlformats.org/officeDocument/2006/relationships/notesSlide" Target="/ppt/notesSlides/notesSlide5.xml" Id="Rd00db07cb44b422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a:solidFill>
                  <a:srgbClr val="153E35"/>
                </a:solidFill>
                <a:latin typeface="Helvetica Neue"/>
                <a:ea typeface="Helvetica Neue"/>
                <a:cs typeface="Helvetica Neue"/>
              </a:rPr>
              <a:t>Model value of continuing minus exit</a:t>
            </a:r>
          </a:p>
        </c:rich>
      </c:tx>
      <c:overlay val="0"/>
      <c:txPr>
        <a:bodyPr xmlns:a="http://schemas.openxmlformats.org/drawingml/2006/main" anchorCtr="1"/>
        <a:lstStyle xmlns:a="http://schemas.openxmlformats.org/drawingml/2006/main"/>
        <a:p xmlns:a="http://schemas.openxmlformats.org/drawingml/2006/main">
          <a:pPr>
            <a:defRPr sz="1950">
              <a:solidFill>
                <a:srgbClr val="153E35"/>
              </a:solidFill>
              <a:latin typeface="Helvetica Neue"/>
              <a:ea typeface="Helvetica Neue"/>
              <a:cs typeface="Helvetica Neue"/>
            </a:defRPr>
          </a:pPr>
        </a:p>
      </c:txPr>
    </c:title>
    <c:plotArea>
      <c:scatterChart>
        <c:scatterStyle val="lineMarker"/>
        <c:varyColors val="0"/>
        <c:ser>
          <c:idx val="0"/>
          <c:order val="0"/>
          <c:tx>
            <c:v>30 steps</c:v>
          </c:tx>
          <c:spPr>
            <a:ln xmlns:a="http://schemas.openxmlformats.org/drawingml/2006/main" w="28575">
              <a:solidFill>
                <a:srgbClr val="153E35"/>
              </a:solidFill>
            </a:ln>
          </c:spPr>
          <c:marker>
            <c:symbol val="circle"/>
            <c:size val="8"/>
            <c:spPr>
              <a:solidFill xmlns:a="http://schemas.openxmlformats.org/drawingml/2006/main">
                <a:srgbClr val="153E35"/>
              </a:solidFill>
            </c:spPr>
          </c:marker>
          <c:xVal>
            <c:numRef>
              <c:f>'Chart Data'!$A$2:$A$5</c:f>
              <c:numCache>
                <c:formatCode>General</c:formatCode>
                <c:ptCount val="4"/>
                <c:pt idx="0">
                  <c:v>20</c:v>
                </c:pt>
                <c:pt idx="1">
                  <c:v>45</c:v>
                </c:pt>
                <c:pt idx="2">
                  <c:v>90</c:v>
                </c:pt>
                <c:pt idx="3">
                  <c:v>120</c:v>
                </c:pt>
              </c:numCache>
            </c:numRef>
          </c:xVal>
          <c:yVal>
            <c:numRef>
              <c:f>'Chart Data'!$B$2:$B$5</c:f>
              <c:numCache>
                <c:formatCode>0.0000</c:formatCode>
                <c:ptCount val="4"/>
                <c:pt idx="0">
                  <c:v>-0.000195689744</c:v>
                </c:pt>
                <c:pt idx="1">
                  <c:v>0.000721704539</c:v>
                </c:pt>
                <c:pt idx="2">
                  <c:v>0.001449705387</c:v>
                </c:pt>
                <c:pt idx="3">
                  <c:v>0.001732626968</c:v>
                </c:pt>
              </c:numCache>
            </c:numRef>
          </c:yVal>
        </c:ser>
        <c:ser>
          <c:idx val="1"/>
          <c:order val="1"/>
          <c:tx>
            <c:v>2 steps</c:v>
          </c:tx>
          <c:spPr>
            <a:ln xmlns:a="http://schemas.openxmlformats.org/drawingml/2006/main" w="28575">
              <a:solidFill>
                <a:srgbClr val="A77534"/>
              </a:solidFill>
            </a:ln>
          </c:spPr>
          <c:marker>
            <c:symbol val="diamond"/>
            <c:size val="8"/>
            <c:spPr>
              <a:solidFill xmlns:a="http://schemas.openxmlformats.org/drawingml/2006/main">
                <a:srgbClr val="A77534"/>
              </a:solidFill>
            </c:spPr>
          </c:marker>
          <c:xVal>
            <c:numRef>
              <c:f>'Chart Data'!$C$2:$C$5</c:f>
              <c:numCache>
                <c:formatCode>General</c:formatCode>
                <c:ptCount val="4"/>
                <c:pt idx="0">
                  <c:v>20</c:v>
                </c:pt>
                <c:pt idx="1">
                  <c:v>45</c:v>
                </c:pt>
                <c:pt idx="2">
                  <c:v>90</c:v>
                </c:pt>
                <c:pt idx="3">
                  <c:v>120</c:v>
                </c:pt>
              </c:numCache>
            </c:numRef>
          </c:xVal>
          <c:yVal>
            <c:numRef>
              <c:f>'Chart Data'!$D$2:$D$5</c:f>
              <c:numCache>
                <c:formatCode>0.0000</c:formatCode>
                <c:ptCount val="4"/>
                <c:pt idx="0">
                  <c:v>-0.000432863168</c:v>
                </c:pt>
                <c:pt idx="1">
                  <c:v>-0.000128734885</c:v>
                </c:pt>
                <c:pt idx="2">
                  <c:v>0.000200103662</c:v>
                </c:pt>
                <c:pt idx="3">
                  <c:v>0.000339258545</c:v>
                </c:pt>
              </c:numCache>
            </c:numRef>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0.002"/>
          <c:min val="-0.0005"/>
        </c:scaling>
        <c:delete val="0"/>
        <c:axPos val="l"/>
        <c:majorGridlines>
          <c:spPr>
            <a:ln xmlns:a="http://schemas.openxmlformats.org/drawingml/2006/main" w="9525">
              <a:solidFill>
                <a:srgbClr val="D4D9CF"/>
              </a:solidFill>
            </a:ln>
          </c:spPr>
        </c:majorGridlines>
        <c:numFmt formatCode="0.0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75">
                <a:solidFill>
                  <a:srgbClr val="56625C"/>
                </a:solidFill>
                <a:latin typeface="Helvetica Neue"/>
                <a:ea typeface="Helvetica Neue"/>
                <a:cs typeface="Helvetica Neue"/>
              </a:defRPr>
            </a:pPr>
          </a:p>
        </c:txPr>
        <c:crossAx val="48650112"/>
        <c:majorUnit val="0.0005"/>
      </c:valAx>
      <c:valAx>
        <c:axId val="48650112"/>
        <c:scaling>
          <c:orientation val="minMax"/>
          <c:max val="120"/>
          <c:min val="0"/>
        </c:scaling>
        <c:delete val="0"/>
        <c:axPos val="b"/>
        <c:title>
          <c:tx>
            <c:rich>
              <a:bodyPr xmlns:a="http://schemas.openxmlformats.org/drawingml/2006/main"/>
              <a:lstStyle xmlns:a="http://schemas.openxmlformats.org/drawingml/2006/main"/>
              <a:p xmlns:a="http://schemas.openxmlformats.org/drawingml/2006/main">
                <a:r>
                  <a:rPr sz="1725">
                    <a:solidFill>
                      <a:srgbClr val="56625C"/>
                    </a:solidFill>
                    <a:latin typeface="Helvetica Neue"/>
                    <a:ea typeface="Helvetica Neue"/>
                    <a:cs typeface="Helvetica Neue"/>
                  </a:rPr>
                  <a:t>Budget seconds</a:t>
                </a:r>
              </a:p>
            </c:rich>
          </c:tx>
          <c:overlay val="0"/>
          <c:txPr>
            <a:bodyPr xmlns:a="http://schemas.openxmlformats.org/drawingml/2006/main" anchorCtr="1"/>
            <a:lstStyle xmlns:a="http://schemas.openxmlformats.org/drawingml/2006/main"/>
            <a:p xmlns:a="http://schemas.openxmlformats.org/drawingml/2006/main">
              <a:pPr>
                <a:defRPr sz="1725">
                  <a:solidFill>
                    <a:srgbClr val="56625C"/>
                  </a:solidFill>
                  <a:latin typeface="Helvetica Neue"/>
                  <a:ea typeface="Helvetica Neue"/>
                  <a:cs typeface="Helvetica Neue"/>
                </a:defRPr>
              </a:pPr>
            </a:p>
          </c:txPr>
        </c:title>
        <c:numFmt formatCode="0"/>
        <c:majorTickMark val="none"/>
        <c:minorTickMark val="none"/>
        <c:spPr>
          <a:ln xmlns:a="http://schemas.openxmlformats.org/drawingml/2006/main" w="9525">
            <a:solidFill>
              <a:srgbClr val="D4D9CF"/>
            </a:solidFill>
          </a:ln>
        </c:spPr>
        <c:txPr>
          <a:bodyPr xmlns:a="http://schemas.openxmlformats.org/drawingml/2006/main" anchorCtr="1"/>
          <a:lstStyle xmlns:a="http://schemas.openxmlformats.org/drawingml/2006/main"/>
          <a:p xmlns:a="http://schemas.openxmlformats.org/drawingml/2006/main">
            <a:pPr>
              <a:defRPr sz="1650">
                <a:solidFill>
                  <a:srgbClr val="56625C"/>
                </a:solidFill>
                <a:latin typeface="Helvetica Neue"/>
                <a:ea typeface="Helvetica Neue"/>
                <a:cs typeface="Helvetica Neue"/>
              </a:defRPr>
            </a:pPr>
          </a:p>
        </c:txPr>
        <c:crossAx val="48672768"/>
        <c:majorUnit val="30"/>
      </c:valAx>
      <c:spPr>
        <a:solidFill xmlns:a="http://schemas.openxmlformats.org/drawingml/2006/main">
          <a:srgbClr val="F5F2E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153E35"/>
              </a:solidFill>
              <a:latin typeface="Helvetica Neue"/>
              <a:ea typeface="Helvetica Neue"/>
              <a:cs typeface="Helvetica Neue"/>
            </a:defRPr>
          </a:pPr>
        </a:p>
      </c:txPr>
    </c:legend>
    <c:plotVisOnly val="1"/>
  </c:chart>
  <c:spPr>
    <a:solidFill xmlns:a="http://schemas.openxmlformats.org/drawingml/2006/main">
      <a:srgbClr val="F5F2EA"/>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F87F5F7D-3EB7-40CB-B8BB-4363CD2922A2}"/>
              </a:ext>
            </a:extLst>
          </p:cNvPr>
          <p:cNvPicPr>
            <a:picLocks xmlns:a="http://schemas.openxmlformats.org/drawingml/2006/main" noChangeAspect="1"/>
          </p:cNvPicPr>
          <p:nvPr/>
        </p:nvPicPr>
        <p:blipFill>
          <a:blip xmlns:r="http://schemas.openxmlformats.org/officeDocument/2006/relationships" xmlns:a="http://schemas.openxmlformats.org/drawingml/2006/main" r:embed="R0fb2a6747c594776"/>
          <a:srcRect xmlns:a="http://schemas.openxmlformats.org/drawingml/2006/main" l="18" t="0" r="18" b="0"/>
          <a:stretch xmlns:a="http://schemas.openxmlformats.org/drawingml/2006/main">
            <a:fillRect l="0" t="0" r="0" b="0"/>
          </a:stretch>
        </p:blipFill>
        <p:spPr>
          <a:xfrm xmlns:a="http://schemas.openxmlformats.org/drawingml/2006/main">
            <a:off x="7239000" y="0"/>
            <a:ext cx="4953000" cy="6191250"/>
          </a:xfrm>
          <a:prstGeom xmlns:a="http://schemas.openxmlformats.org/drawingml/2006/main" prst="rect">
            <a:avLst/>
          </a:prstGeom>
        </p:spPr>
      </p:pic>
      <p:sp>
        <p:nvSpPr>
          <p:cNvPr id="2" name="cover-title">
            <a:extLst xmlns:a="http://schemas.openxmlformats.org/drawingml/2006/main">
              <a:ext uri="{FF2B5EF4-FFF2-40B4-BE49-F238E27FC236}">
                <a16:creationId xmlns:a16="http://schemas.microsoft.com/office/drawing/2014/main" id="{7E6DD55D-3FE9-4AC6-8FA1-BAB49A3D8850}"/>
              </a:ext>
            </a:extLst>
          </p:cNvPr>
          <p:cNvSpPr>
            <a:spLocks xmlns:a="http://schemas.openxmlformats.org/drawingml/2006/main" noGrp="1"/>
          </p:cNvSpPr>
          <p:nvPr/>
        </p:nvSpPr>
        <p:spPr>
          <a:xfrm xmlns:a="http://schemas.openxmlformats.org/drawingml/2006/main">
            <a:off x="609600" y="1409700"/>
            <a:ext cx="67627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6600" b="1">
                <a:solidFill>
                  <a:srgbClr val="153E35"/>
                </a:solidFill>
                <a:latin typeface="Helvetica Neue"/>
                <a:ea typeface="Helvetica Neue"/>
                <a:cs typeface="Helvetica Neue"/>
              </a:defRPr>
            </a:defPPr>
            <a:lvl1pPr algn="l">
              <a:defRPr sz="6600" b="1">
                <a:solidFill>
                  <a:srgbClr val="153E35"/>
                </a:solidFill>
                <a:latin typeface="Helvetica Neue"/>
                <a:ea typeface="Helvetica Neue"/>
                <a:cs typeface="Helvetica Neue"/>
              </a:defRPr>
            </a:lvl1pPr>
            <a:lvl2pPr algn="l">
              <a:defRPr sz="6600" b="1">
                <a:solidFill>
                  <a:srgbClr val="153E35"/>
                </a:solidFill>
                <a:latin typeface="Helvetica Neue"/>
                <a:ea typeface="Helvetica Neue"/>
                <a:cs typeface="Helvetica Neue"/>
              </a:defRPr>
            </a:lvl2pPr>
            <a:lvl3pPr algn="l">
              <a:defRPr sz="6600" b="1">
                <a:solidFill>
                  <a:srgbClr val="153E35"/>
                </a:solidFill>
                <a:latin typeface="Helvetica Neue"/>
                <a:ea typeface="Helvetica Neue"/>
                <a:cs typeface="Helvetica Neue"/>
              </a:defRPr>
            </a:lvl3pPr>
            <a:lvl4pPr algn="l">
              <a:defRPr sz="6600" b="1">
                <a:solidFill>
                  <a:srgbClr val="153E35"/>
                </a:solidFill>
                <a:latin typeface="Helvetica Neue"/>
                <a:ea typeface="Helvetica Neue"/>
                <a:cs typeface="Helvetica Neue"/>
              </a:defRPr>
            </a:lvl4pPr>
            <a:lvl5pPr algn="l">
              <a:defRPr sz="6600" b="1">
                <a:solidFill>
                  <a:srgbClr val="153E35"/>
                </a:solidFill>
                <a:latin typeface="Helvetica Neue"/>
                <a:ea typeface="Helvetica Neue"/>
                <a:cs typeface="Helvetica Neue"/>
              </a:defRPr>
            </a:lvl5pPr>
            <a:lvl6pPr algn="l">
              <a:defRPr sz="6600" b="1">
                <a:solidFill>
                  <a:srgbClr val="153E35"/>
                </a:solidFill>
                <a:latin typeface="Helvetica Neue"/>
                <a:ea typeface="Helvetica Neue"/>
                <a:cs typeface="Helvetica Neue"/>
              </a:defRPr>
            </a:lvl6pPr>
            <a:lvl7pPr algn="l">
              <a:defRPr sz="6600" b="1">
                <a:solidFill>
                  <a:srgbClr val="153E35"/>
                </a:solidFill>
                <a:latin typeface="Helvetica Neue"/>
                <a:ea typeface="Helvetica Neue"/>
                <a:cs typeface="Helvetica Neue"/>
              </a:defRPr>
            </a:lvl7pPr>
            <a:lvl8pPr algn="l">
              <a:defRPr sz="6600" b="1">
                <a:solidFill>
                  <a:srgbClr val="153E35"/>
                </a:solidFill>
                <a:latin typeface="Helvetica Neue"/>
                <a:ea typeface="Helvetica Neue"/>
                <a:cs typeface="Helvetica Neue"/>
              </a:defRPr>
            </a:lvl8pPr>
            <a:lvl9pPr algn="l">
              <a:defRPr sz="6600" b="1">
                <a:solidFill>
                  <a:srgbClr val="153E35"/>
                </a:solidFill>
                <a:latin typeface="Helvetica Neue"/>
                <a:ea typeface="Helvetica Neue"/>
                <a:cs typeface="Helvetica Neue"/>
              </a:defRPr>
            </a:lvl9pPr>
          </a:lstStyle>
          <a:p xmlns:a="http://schemas.openxmlformats.org/drawingml/2006/main">
            <a:pPr algn="l">
              <a:defRPr sz="6600" b="1">
                <a:solidFill>
                  <a:srgbClr val="153E35"/>
                </a:solidFill>
                <a:latin typeface="Helvetica Neue"/>
                <a:ea typeface="Helvetica Neue"/>
                <a:cs typeface="Helvetica Neue"/>
              </a:defRPr>
            </a:pPr>
            <a:r>
              <a:rPr sz="6600" b="1">
                <a:solidFill>
                  <a:srgbClr val="153E35"/>
                </a:solidFill>
                <a:latin typeface="Helvetica Neue"/>
                <a:ea typeface="Helvetica Neue"/>
                <a:cs typeface="Helvetica Neue"/>
              </a:rPr>
              <a:t>Time Has</a:t>
            </a:r>
          </a:p>
          <a:p xmlns:a="http://schemas.openxmlformats.org/drawingml/2006/main">
            <a:pPr algn="l">
              <a:defRPr sz="6600" b="1">
                <a:solidFill>
                  <a:srgbClr val="153E35"/>
                </a:solidFill>
                <a:latin typeface="Helvetica Neue"/>
                <a:ea typeface="Helvetica Neue"/>
                <a:cs typeface="Helvetica Neue"/>
              </a:defRPr>
            </a:pPr>
            <a:r>
              <a:rPr sz="6600" b="1">
                <a:solidFill>
                  <a:srgbClr val="153E35"/>
                </a:solidFill>
                <a:latin typeface="Helvetica Neue"/>
                <a:ea typeface="Helvetica Neue"/>
                <a:cs typeface="Helvetica Neue"/>
              </a:rPr>
              <a:t>a Price</a:t>
            </a:r>
          </a:p>
        </p:txBody>
      </p:sp>
      <p:sp>
        <p:nvSpPr>
          <p:cNvPr id="3" name="cover-question">
            <a:extLst xmlns:a="http://schemas.openxmlformats.org/drawingml/2006/main">
              <a:ext uri="{FF2B5EF4-FFF2-40B4-BE49-F238E27FC236}">
                <a16:creationId xmlns:a16="http://schemas.microsoft.com/office/drawing/2014/main" id="{6200ADFC-B8AE-4703-93C4-6AD646C736BB}"/>
              </a:ext>
            </a:extLst>
          </p:cNvPr>
          <p:cNvSpPr>
            <a:spLocks xmlns:a="http://schemas.openxmlformats.org/drawingml/2006/main" noGrp="1"/>
          </p:cNvSpPr>
          <p:nvPr/>
        </p:nvSpPr>
        <p:spPr>
          <a:xfrm xmlns:a="http://schemas.openxmlformats.org/drawingml/2006/main">
            <a:off x="647700" y="3676650"/>
            <a:ext cx="5905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150" b="0">
                <a:solidFill>
                  <a:srgbClr val="153E35"/>
                </a:solidFill>
                <a:latin typeface="Helvetica Neue"/>
                <a:ea typeface="Helvetica Neue"/>
                <a:cs typeface="Helvetica Neue"/>
              </a:defRPr>
            </a:defPPr>
            <a:lvl1pPr algn="l">
              <a:defRPr sz="3150" b="0">
                <a:solidFill>
                  <a:srgbClr val="153E35"/>
                </a:solidFill>
                <a:latin typeface="Helvetica Neue"/>
                <a:ea typeface="Helvetica Neue"/>
                <a:cs typeface="Helvetica Neue"/>
              </a:defRPr>
            </a:lvl1pPr>
            <a:lvl2pPr algn="l">
              <a:defRPr sz="3150" b="0">
                <a:solidFill>
                  <a:srgbClr val="153E35"/>
                </a:solidFill>
                <a:latin typeface="Helvetica Neue"/>
                <a:ea typeface="Helvetica Neue"/>
                <a:cs typeface="Helvetica Neue"/>
              </a:defRPr>
            </a:lvl2pPr>
            <a:lvl3pPr algn="l">
              <a:defRPr sz="3150" b="0">
                <a:solidFill>
                  <a:srgbClr val="153E35"/>
                </a:solidFill>
                <a:latin typeface="Helvetica Neue"/>
                <a:ea typeface="Helvetica Neue"/>
                <a:cs typeface="Helvetica Neue"/>
              </a:defRPr>
            </a:lvl3pPr>
            <a:lvl4pPr algn="l">
              <a:defRPr sz="3150" b="0">
                <a:solidFill>
                  <a:srgbClr val="153E35"/>
                </a:solidFill>
                <a:latin typeface="Helvetica Neue"/>
                <a:ea typeface="Helvetica Neue"/>
                <a:cs typeface="Helvetica Neue"/>
              </a:defRPr>
            </a:lvl4pPr>
            <a:lvl5pPr algn="l">
              <a:defRPr sz="3150" b="0">
                <a:solidFill>
                  <a:srgbClr val="153E35"/>
                </a:solidFill>
                <a:latin typeface="Helvetica Neue"/>
                <a:ea typeface="Helvetica Neue"/>
                <a:cs typeface="Helvetica Neue"/>
              </a:defRPr>
            </a:lvl5pPr>
            <a:lvl6pPr algn="l">
              <a:defRPr sz="3150" b="0">
                <a:solidFill>
                  <a:srgbClr val="153E35"/>
                </a:solidFill>
                <a:latin typeface="Helvetica Neue"/>
                <a:ea typeface="Helvetica Neue"/>
                <a:cs typeface="Helvetica Neue"/>
              </a:defRPr>
            </a:lvl6pPr>
            <a:lvl7pPr algn="l">
              <a:defRPr sz="3150" b="0">
                <a:solidFill>
                  <a:srgbClr val="153E35"/>
                </a:solidFill>
                <a:latin typeface="Helvetica Neue"/>
                <a:ea typeface="Helvetica Neue"/>
                <a:cs typeface="Helvetica Neue"/>
              </a:defRPr>
            </a:lvl7pPr>
            <a:lvl8pPr algn="l">
              <a:defRPr sz="3150" b="0">
                <a:solidFill>
                  <a:srgbClr val="153E35"/>
                </a:solidFill>
                <a:latin typeface="Helvetica Neue"/>
                <a:ea typeface="Helvetica Neue"/>
                <a:cs typeface="Helvetica Neue"/>
              </a:defRPr>
            </a:lvl8pPr>
            <a:lvl9pPr algn="l">
              <a:defRPr sz="3150" b="0">
                <a:solidFill>
                  <a:srgbClr val="153E35"/>
                </a:solidFill>
                <a:latin typeface="Helvetica Neue"/>
                <a:ea typeface="Helvetica Neue"/>
                <a:cs typeface="Helvetica Neue"/>
              </a:defRPr>
            </a:lvl9pPr>
          </a:lstStyle>
          <a:p xmlns:a="http://schemas.openxmlformats.org/drawingml/2006/main">
            <a:pPr algn="l">
              <a:defRPr sz="3150" b="0">
                <a:solidFill>
                  <a:srgbClr val="153E35"/>
                </a:solidFill>
                <a:latin typeface="Helvetica Neue"/>
                <a:ea typeface="Helvetica Neue"/>
                <a:cs typeface="Helvetica Neue"/>
              </a:defRPr>
            </a:pPr>
            <a:r>
              <a:rPr sz="3150" b="0">
                <a:solidFill>
                  <a:srgbClr val="153E35"/>
                </a:solidFill>
                <a:latin typeface="Helvetica Neue"/>
                <a:ea typeface="Helvetica Neue"/>
                <a:cs typeface="Helvetica Neue"/>
              </a:rPr>
              <a:t>Would you pay</a:t>
            </a:r>
          </a:p>
          <a:p xmlns:a="http://schemas.openxmlformats.org/drawingml/2006/main">
            <a:pPr algn="l">
              <a:defRPr sz="3150" b="0">
                <a:solidFill>
                  <a:srgbClr val="153E35"/>
                </a:solidFill>
                <a:latin typeface="Helvetica Neue"/>
                <a:ea typeface="Helvetica Neue"/>
                <a:cs typeface="Helvetica Neue"/>
              </a:defRPr>
            </a:pPr>
            <a:r>
              <a:rPr sz="3150" b="0">
                <a:solidFill>
                  <a:srgbClr val="153E35"/>
                </a:solidFill>
                <a:latin typeface="Helvetica Neue"/>
                <a:ea typeface="Helvetica Neue"/>
                <a:cs typeface="Helvetica Neue"/>
              </a:rPr>
              <a:t>to keep waiting?</a:t>
            </a:r>
          </a:p>
        </p:txBody>
      </p:sp>
      <p:sp>
        <p:nvSpPr>
          <p:cNvPr id="4" name="cover-description">
            <a:extLst xmlns:a="http://schemas.openxmlformats.org/drawingml/2006/main">
              <a:ext uri="{FF2B5EF4-FFF2-40B4-BE49-F238E27FC236}">
                <a16:creationId xmlns:a16="http://schemas.microsoft.com/office/drawing/2014/main" id="{266ECF19-CADE-452D-B11B-95F7F5611C0A}"/>
              </a:ext>
            </a:extLst>
          </p:cNvPr>
          <p:cNvSpPr>
            <a:spLocks xmlns:a="http://schemas.openxmlformats.org/drawingml/2006/main" noGrp="1"/>
          </p:cNvSpPr>
          <p:nvPr/>
        </p:nvSpPr>
        <p:spPr>
          <a:xfrm xmlns:a="http://schemas.openxmlformats.org/drawingml/2006/main">
            <a:off x="647700" y="5334000"/>
            <a:ext cx="6191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0">
                <a:solidFill>
                  <a:srgbClr val="56625C"/>
                </a:solidFill>
                <a:latin typeface="Helvetica Neue"/>
                <a:ea typeface="Helvetica Neue"/>
                <a:cs typeface="Helvetica Neue"/>
              </a:defRPr>
            </a:defPPr>
            <a:lvl1pPr algn="l">
              <a:defRPr sz="2100" b="0">
                <a:solidFill>
                  <a:srgbClr val="56625C"/>
                </a:solidFill>
                <a:latin typeface="Helvetica Neue"/>
                <a:ea typeface="Helvetica Neue"/>
                <a:cs typeface="Helvetica Neue"/>
              </a:defRPr>
            </a:lvl1pPr>
            <a:lvl2pPr algn="l">
              <a:defRPr sz="2100" b="0">
                <a:solidFill>
                  <a:srgbClr val="56625C"/>
                </a:solidFill>
                <a:latin typeface="Helvetica Neue"/>
                <a:ea typeface="Helvetica Neue"/>
                <a:cs typeface="Helvetica Neue"/>
              </a:defRPr>
            </a:lvl2pPr>
            <a:lvl3pPr algn="l">
              <a:defRPr sz="2100" b="0">
                <a:solidFill>
                  <a:srgbClr val="56625C"/>
                </a:solidFill>
                <a:latin typeface="Helvetica Neue"/>
                <a:ea typeface="Helvetica Neue"/>
                <a:cs typeface="Helvetica Neue"/>
              </a:defRPr>
            </a:lvl3pPr>
            <a:lvl4pPr algn="l">
              <a:defRPr sz="2100" b="0">
                <a:solidFill>
                  <a:srgbClr val="56625C"/>
                </a:solidFill>
                <a:latin typeface="Helvetica Neue"/>
                <a:ea typeface="Helvetica Neue"/>
                <a:cs typeface="Helvetica Neue"/>
              </a:defRPr>
            </a:lvl4pPr>
            <a:lvl5pPr algn="l">
              <a:defRPr sz="2100" b="0">
                <a:solidFill>
                  <a:srgbClr val="56625C"/>
                </a:solidFill>
                <a:latin typeface="Helvetica Neue"/>
                <a:ea typeface="Helvetica Neue"/>
                <a:cs typeface="Helvetica Neue"/>
              </a:defRPr>
            </a:lvl5pPr>
            <a:lvl6pPr algn="l">
              <a:defRPr sz="2100" b="0">
                <a:solidFill>
                  <a:srgbClr val="56625C"/>
                </a:solidFill>
                <a:latin typeface="Helvetica Neue"/>
                <a:ea typeface="Helvetica Neue"/>
                <a:cs typeface="Helvetica Neue"/>
              </a:defRPr>
            </a:lvl6pPr>
            <a:lvl7pPr algn="l">
              <a:defRPr sz="2100" b="0">
                <a:solidFill>
                  <a:srgbClr val="56625C"/>
                </a:solidFill>
                <a:latin typeface="Helvetica Neue"/>
                <a:ea typeface="Helvetica Neue"/>
                <a:cs typeface="Helvetica Neue"/>
              </a:defRPr>
            </a:lvl7pPr>
            <a:lvl8pPr algn="l">
              <a:defRPr sz="2100" b="0">
                <a:solidFill>
                  <a:srgbClr val="56625C"/>
                </a:solidFill>
                <a:latin typeface="Helvetica Neue"/>
                <a:ea typeface="Helvetica Neue"/>
                <a:cs typeface="Helvetica Neue"/>
              </a:defRPr>
            </a:lvl8pPr>
            <a:lvl9pPr algn="l">
              <a:defRPr sz="2100" b="0">
                <a:solidFill>
                  <a:srgbClr val="56625C"/>
                </a:solidFill>
                <a:latin typeface="Helvetica Neue"/>
                <a:ea typeface="Helvetica Neue"/>
                <a:cs typeface="Helvetica Neue"/>
              </a:defRPr>
            </a:lvl9pPr>
          </a:lstStyle>
          <a:p xmlns:a="http://schemas.openxmlformats.org/drawingml/2006/main">
            <a:pPr algn="l">
              <a:defRPr sz="2100" b="0">
                <a:solidFill>
                  <a:srgbClr val="56625C"/>
                </a:solidFill>
                <a:latin typeface="Helvetica Neue"/>
                <a:ea typeface="Helvetica Neue"/>
                <a:cs typeface="Helvetica Neue"/>
              </a:defRPr>
            </a:pPr>
            <a:r>
              <a:rPr sz="2100" b="0">
                <a:solidFill>
                  <a:srgbClr val="56625C"/>
                </a:solidFill>
                <a:latin typeface="Helvetica Neue"/>
                <a:ea typeface="Helvetica Neue"/>
                <a:cs typeface="Helvetica Neue"/>
              </a:rPr>
              <a:t>A mathematical decision lab</a:t>
            </a:r>
          </a:p>
          <a:p xmlns:a="http://schemas.openxmlformats.org/drawingml/2006/main">
            <a:pPr algn="l">
              <a:defRPr sz="2100" b="0">
                <a:solidFill>
                  <a:srgbClr val="56625C"/>
                </a:solidFill>
                <a:latin typeface="Helvetica Neue"/>
                <a:ea typeface="Helvetica Neue"/>
                <a:cs typeface="Helvetica Neue"/>
              </a:defRPr>
            </a:pPr>
            <a:r>
              <a:rPr sz="2100" b="0">
                <a:solidFill>
                  <a:srgbClr val="56625C"/>
                </a:solidFill>
                <a:latin typeface="Helvetica Neue"/>
                <a:ea typeface="Helvetica Neue"/>
                <a:cs typeface="Helvetica Neue"/>
              </a:rPr>
              <a:t>using real market prices</a:t>
            </a:r>
          </a:p>
        </p:txBody>
      </p:sp>
    </p:spTree>
    <p:extLst>
      <p:ext uri="{BB962C8B-B14F-4D97-AF65-F5344CB8AC3E}">
        <p14:creationId xmlns:p14="http://schemas.microsoft.com/office/powerpoint/2010/main" val="850182755"/>
      </p:ext>
    </p:extLst>
  </p:cSld>
</p:sld>
</file>

<file path=ppt/slides/slide2.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12476888-B88D-4246-A845-E17F61840A61}"/>
              </a:ext>
            </a:extLst>
          </p:cNvPr>
          <p:cNvSpPr>
            <a:spLocks xmlns:a="http://schemas.openxmlformats.org/drawingml/2006/main" noGrp="1"/>
          </p:cNvSpPr>
          <p:nvPr/>
        </p:nvSpPr>
        <p:spPr>
          <a:xfrm xmlns:a="http://schemas.openxmlformats.org/drawingml/2006/main">
            <a:off x="609600" y="4572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53E35"/>
                </a:solidFill>
                <a:latin typeface="Helvetica Neue"/>
                <a:ea typeface="Helvetica Neue"/>
                <a:cs typeface="Helvetica Neue"/>
              </a:defRPr>
            </a:defPPr>
            <a:lvl1pPr algn="l">
              <a:defRPr sz="3450" b="1">
                <a:solidFill>
                  <a:srgbClr val="153E35"/>
                </a:solidFill>
                <a:latin typeface="Helvetica Neue"/>
                <a:ea typeface="Helvetica Neue"/>
                <a:cs typeface="Helvetica Neue"/>
              </a:defRPr>
            </a:lvl1pPr>
            <a:lvl2pPr algn="l">
              <a:defRPr sz="3450" b="1">
                <a:solidFill>
                  <a:srgbClr val="153E35"/>
                </a:solidFill>
                <a:latin typeface="Helvetica Neue"/>
                <a:ea typeface="Helvetica Neue"/>
                <a:cs typeface="Helvetica Neue"/>
              </a:defRPr>
            </a:lvl2pPr>
            <a:lvl3pPr algn="l">
              <a:defRPr sz="3450" b="1">
                <a:solidFill>
                  <a:srgbClr val="153E35"/>
                </a:solidFill>
                <a:latin typeface="Helvetica Neue"/>
                <a:ea typeface="Helvetica Neue"/>
                <a:cs typeface="Helvetica Neue"/>
              </a:defRPr>
            </a:lvl3pPr>
            <a:lvl4pPr algn="l">
              <a:defRPr sz="3450" b="1">
                <a:solidFill>
                  <a:srgbClr val="153E35"/>
                </a:solidFill>
                <a:latin typeface="Helvetica Neue"/>
                <a:ea typeface="Helvetica Neue"/>
                <a:cs typeface="Helvetica Neue"/>
              </a:defRPr>
            </a:lvl4pPr>
            <a:lvl5pPr algn="l">
              <a:defRPr sz="3450" b="1">
                <a:solidFill>
                  <a:srgbClr val="153E35"/>
                </a:solidFill>
                <a:latin typeface="Helvetica Neue"/>
                <a:ea typeface="Helvetica Neue"/>
                <a:cs typeface="Helvetica Neue"/>
              </a:defRPr>
            </a:lvl5pPr>
            <a:lvl6pPr algn="l">
              <a:defRPr sz="3450" b="1">
                <a:solidFill>
                  <a:srgbClr val="153E35"/>
                </a:solidFill>
                <a:latin typeface="Helvetica Neue"/>
                <a:ea typeface="Helvetica Neue"/>
                <a:cs typeface="Helvetica Neue"/>
              </a:defRPr>
            </a:lvl6pPr>
            <a:lvl7pPr algn="l">
              <a:defRPr sz="3450" b="1">
                <a:solidFill>
                  <a:srgbClr val="153E35"/>
                </a:solidFill>
                <a:latin typeface="Helvetica Neue"/>
                <a:ea typeface="Helvetica Neue"/>
                <a:cs typeface="Helvetica Neue"/>
              </a:defRPr>
            </a:lvl7pPr>
            <a:lvl8pPr algn="l">
              <a:defRPr sz="3450" b="1">
                <a:solidFill>
                  <a:srgbClr val="153E35"/>
                </a:solidFill>
                <a:latin typeface="Helvetica Neue"/>
                <a:ea typeface="Helvetica Neue"/>
                <a:cs typeface="Helvetica Neue"/>
              </a:defRPr>
            </a:lvl8pPr>
            <a:lvl9pPr algn="l">
              <a:defRPr sz="3450" b="1">
                <a:solidFill>
                  <a:srgbClr val="153E35"/>
                </a:solidFill>
                <a:latin typeface="Helvetica Neue"/>
                <a:ea typeface="Helvetica Neue"/>
                <a:cs typeface="Helvetica Neue"/>
              </a:defRPr>
            </a:lvl9pPr>
          </a:lstStyle>
          <a:p xmlns:a="http://schemas.openxmlformats.org/drawingml/2006/main">
            <a:pPr algn="l">
              <a:defRPr sz="3450" b="1">
                <a:solidFill>
                  <a:srgbClr val="153E35"/>
                </a:solidFill>
                <a:latin typeface="Helvetica Neue"/>
                <a:ea typeface="Helvetica Neue"/>
                <a:cs typeface="Helvetica Neue"/>
              </a:defRPr>
            </a:pPr>
            <a:r>
              <a:rPr sz="3450" b="1">
                <a:solidFill>
                  <a:srgbClr val="153E35"/>
                </a:solidFill>
                <a:latin typeface="Helvetica Neue"/>
                <a:ea typeface="Helvetica Neue"/>
                <a:cs typeface="Helvetica Neue"/>
              </a:rPr>
              <a:t>A finite budget for decisions</a:t>
            </a:r>
          </a:p>
        </p:txBody>
      </p:sp>
      <p:sp>
        <p:nvSpPr>
          <p:cNvPr id="2" name="starting-state">
            <a:extLst xmlns:a="http://schemas.openxmlformats.org/drawingml/2006/main">
              <a:ext uri="{FF2B5EF4-FFF2-40B4-BE49-F238E27FC236}">
                <a16:creationId xmlns:a16="http://schemas.microsoft.com/office/drawing/2014/main" id="{5497FE37-A97F-4A0D-BCD5-E0A442D03DF8}"/>
              </a:ext>
            </a:extLst>
          </p:cNvPr>
          <p:cNvSpPr>
            <a:spLocks xmlns:a="http://schemas.openxmlformats.org/drawingml/2006/main" noGrp="1"/>
          </p:cNvSpPr>
          <p:nvPr/>
        </p:nvSpPr>
        <p:spPr>
          <a:xfrm xmlns:a="http://schemas.openxmlformats.org/drawingml/2006/main">
            <a:off x="609600" y="14668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850" b="1">
                <a:solidFill>
                  <a:srgbClr val="153E35"/>
                </a:solidFill>
                <a:latin typeface="Helvetica Neue"/>
                <a:ea typeface="Helvetica Neue"/>
                <a:cs typeface="Helvetica Neue"/>
              </a:defRPr>
            </a:defPPr>
            <a:lvl1pPr algn="l">
              <a:defRPr sz="2850" b="1">
                <a:solidFill>
                  <a:srgbClr val="153E35"/>
                </a:solidFill>
                <a:latin typeface="Helvetica Neue"/>
                <a:ea typeface="Helvetica Neue"/>
                <a:cs typeface="Helvetica Neue"/>
              </a:defRPr>
            </a:lvl1pPr>
            <a:lvl2pPr algn="l">
              <a:defRPr sz="2850" b="1">
                <a:solidFill>
                  <a:srgbClr val="153E35"/>
                </a:solidFill>
                <a:latin typeface="Helvetica Neue"/>
                <a:ea typeface="Helvetica Neue"/>
                <a:cs typeface="Helvetica Neue"/>
              </a:defRPr>
            </a:lvl2pPr>
            <a:lvl3pPr algn="l">
              <a:defRPr sz="2850" b="1">
                <a:solidFill>
                  <a:srgbClr val="153E35"/>
                </a:solidFill>
                <a:latin typeface="Helvetica Neue"/>
                <a:ea typeface="Helvetica Neue"/>
                <a:cs typeface="Helvetica Neue"/>
              </a:defRPr>
            </a:lvl3pPr>
            <a:lvl4pPr algn="l">
              <a:defRPr sz="2850" b="1">
                <a:solidFill>
                  <a:srgbClr val="153E35"/>
                </a:solidFill>
                <a:latin typeface="Helvetica Neue"/>
                <a:ea typeface="Helvetica Neue"/>
                <a:cs typeface="Helvetica Neue"/>
              </a:defRPr>
            </a:lvl4pPr>
            <a:lvl5pPr algn="l">
              <a:defRPr sz="2850" b="1">
                <a:solidFill>
                  <a:srgbClr val="153E35"/>
                </a:solidFill>
                <a:latin typeface="Helvetica Neue"/>
                <a:ea typeface="Helvetica Neue"/>
                <a:cs typeface="Helvetica Neue"/>
              </a:defRPr>
            </a:lvl5pPr>
            <a:lvl6pPr algn="l">
              <a:defRPr sz="2850" b="1">
                <a:solidFill>
                  <a:srgbClr val="153E35"/>
                </a:solidFill>
                <a:latin typeface="Helvetica Neue"/>
                <a:ea typeface="Helvetica Neue"/>
                <a:cs typeface="Helvetica Neue"/>
              </a:defRPr>
            </a:lvl6pPr>
            <a:lvl7pPr algn="l">
              <a:defRPr sz="2850" b="1">
                <a:solidFill>
                  <a:srgbClr val="153E35"/>
                </a:solidFill>
                <a:latin typeface="Helvetica Neue"/>
                <a:ea typeface="Helvetica Neue"/>
                <a:cs typeface="Helvetica Neue"/>
              </a:defRPr>
            </a:lvl7pPr>
            <a:lvl8pPr algn="l">
              <a:defRPr sz="2850" b="1">
                <a:solidFill>
                  <a:srgbClr val="153E35"/>
                </a:solidFill>
                <a:latin typeface="Helvetica Neue"/>
                <a:ea typeface="Helvetica Neue"/>
                <a:cs typeface="Helvetica Neue"/>
              </a:defRPr>
            </a:lvl8pPr>
            <a:lvl9pPr algn="l">
              <a:defRPr sz="2850" b="1">
                <a:solidFill>
                  <a:srgbClr val="153E35"/>
                </a:solidFill>
                <a:latin typeface="Helvetica Neue"/>
                <a:ea typeface="Helvetica Neue"/>
                <a:cs typeface="Helvetica Neue"/>
              </a:defRPr>
            </a:lvl9pPr>
          </a:lstStyle>
          <a:p xmlns:a="http://schemas.openxmlformats.org/drawingml/2006/main">
            <a:pPr algn="l">
              <a:defRPr sz="2850" b="1">
                <a:solidFill>
                  <a:srgbClr val="153E35"/>
                </a:solidFill>
                <a:latin typeface="Helvetica Neue"/>
                <a:ea typeface="Helvetica Neue"/>
                <a:cs typeface="Helvetica Neue"/>
              </a:defRPr>
            </a:pPr>
            <a:r>
              <a:rPr sz="2850" b="1">
                <a:solidFill>
                  <a:srgbClr val="153E35"/>
                </a:solidFill>
                <a:latin typeface="Helvetica Neue"/>
                <a:ea typeface="Helvetica Neue"/>
                <a:cs typeface="Helvetica Neue"/>
              </a:rPr>
              <a:t>100 cash + a limited time budget</a:t>
            </a:r>
          </a:p>
        </p:txBody>
      </p:sp>
      <p:sp>
        <p:nvSpPr>
          <p:cNvPr id="3" name="time-cost">
            <a:extLst xmlns:a="http://schemas.openxmlformats.org/drawingml/2006/main">
              <a:ext uri="{FF2B5EF4-FFF2-40B4-BE49-F238E27FC236}">
                <a16:creationId xmlns:a16="http://schemas.microsoft.com/office/drawing/2014/main" id="{2924C603-B37E-4D2D-A797-4952F425FF9A}"/>
              </a:ext>
            </a:extLst>
          </p:cNvPr>
          <p:cNvSpPr>
            <a:spLocks xmlns:a="http://schemas.openxmlformats.org/drawingml/2006/main" noGrp="1"/>
          </p:cNvSpPr>
          <p:nvPr/>
        </p:nvSpPr>
        <p:spPr>
          <a:xfrm xmlns:a="http://schemas.openxmlformats.org/drawingml/2006/main">
            <a:off x="609600" y="2190750"/>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0">
                <a:solidFill>
                  <a:srgbClr val="153E35"/>
                </a:solidFill>
                <a:latin typeface="Helvetica Neue"/>
                <a:ea typeface="Helvetica Neue"/>
                <a:cs typeface="Helvetica Neue"/>
              </a:defRPr>
            </a:defPPr>
            <a:lvl1pPr algn="l">
              <a:defRPr sz="2175" b="0">
                <a:solidFill>
                  <a:srgbClr val="153E35"/>
                </a:solidFill>
                <a:latin typeface="Helvetica Neue"/>
                <a:ea typeface="Helvetica Neue"/>
                <a:cs typeface="Helvetica Neue"/>
              </a:defRPr>
            </a:lvl1pPr>
            <a:lvl2pPr algn="l">
              <a:defRPr sz="2175" b="0">
                <a:solidFill>
                  <a:srgbClr val="153E35"/>
                </a:solidFill>
                <a:latin typeface="Helvetica Neue"/>
                <a:ea typeface="Helvetica Neue"/>
                <a:cs typeface="Helvetica Neue"/>
              </a:defRPr>
            </a:lvl2pPr>
            <a:lvl3pPr algn="l">
              <a:defRPr sz="2175" b="0">
                <a:solidFill>
                  <a:srgbClr val="153E35"/>
                </a:solidFill>
                <a:latin typeface="Helvetica Neue"/>
                <a:ea typeface="Helvetica Neue"/>
                <a:cs typeface="Helvetica Neue"/>
              </a:defRPr>
            </a:lvl3pPr>
            <a:lvl4pPr algn="l">
              <a:defRPr sz="2175" b="0">
                <a:solidFill>
                  <a:srgbClr val="153E35"/>
                </a:solidFill>
                <a:latin typeface="Helvetica Neue"/>
                <a:ea typeface="Helvetica Neue"/>
                <a:cs typeface="Helvetica Neue"/>
              </a:defRPr>
            </a:lvl4pPr>
            <a:lvl5pPr algn="l">
              <a:defRPr sz="2175" b="0">
                <a:solidFill>
                  <a:srgbClr val="153E35"/>
                </a:solidFill>
                <a:latin typeface="Helvetica Neue"/>
                <a:ea typeface="Helvetica Neue"/>
                <a:cs typeface="Helvetica Neue"/>
              </a:defRPr>
            </a:lvl5pPr>
            <a:lvl6pPr algn="l">
              <a:defRPr sz="2175" b="0">
                <a:solidFill>
                  <a:srgbClr val="153E35"/>
                </a:solidFill>
                <a:latin typeface="Helvetica Neue"/>
                <a:ea typeface="Helvetica Neue"/>
                <a:cs typeface="Helvetica Neue"/>
              </a:defRPr>
            </a:lvl6pPr>
            <a:lvl7pPr algn="l">
              <a:defRPr sz="2175" b="0">
                <a:solidFill>
                  <a:srgbClr val="153E35"/>
                </a:solidFill>
                <a:latin typeface="Helvetica Neue"/>
                <a:ea typeface="Helvetica Neue"/>
                <a:cs typeface="Helvetica Neue"/>
              </a:defRPr>
            </a:lvl7pPr>
            <a:lvl8pPr algn="l">
              <a:defRPr sz="2175" b="0">
                <a:solidFill>
                  <a:srgbClr val="153E35"/>
                </a:solidFill>
                <a:latin typeface="Helvetica Neue"/>
                <a:ea typeface="Helvetica Neue"/>
                <a:cs typeface="Helvetica Neue"/>
              </a:defRPr>
            </a:lvl8pPr>
            <a:lvl9pPr algn="l">
              <a:defRPr sz="2175" b="0">
                <a:solidFill>
                  <a:srgbClr val="153E35"/>
                </a:solidFill>
                <a:latin typeface="Helvetica Neue"/>
                <a:ea typeface="Helvetica Neue"/>
                <a:cs typeface="Helvetica Neue"/>
              </a:defRPr>
            </a:lvl9pPr>
          </a:lstStyle>
          <a:p xmlns:a="http://schemas.openxmlformats.org/drawingml/2006/main">
            <a:pPr algn="l">
              <a:defRPr sz="2175" b="0">
                <a:solidFill>
                  <a:srgbClr val="153E35"/>
                </a:solidFill>
                <a:latin typeface="Helvetica Neue"/>
                <a:ea typeface="Helvetica Neue"/>
                <a:cs typeface="Helvetica Neue"/>
              </a:defRPr>
            </a:pPr>
            <a:r>
              <a:rPr sz="2175" b="0">
                <a:solidFill>
                  <a:srgbClr val="153E35"/>
                </a:solidFill>
                <a:latin typeface="Helvetica Neue"/>
                <a:ea typeface="Helvetica Neue"/>
                <a:cs typeface="Helvetica Neue"/>
              </a:rPr>
              <a:t>Each market day uses 5 budget seconds.</a:t>
            </a:r>
          </a:p>
          <a:p xmlns:a="http://schemas.openxmlformats.org/drawingml/2006/main">
            <a:pPr algn="l">
              <a:defRPr sz="2175" b="0">
                <a:solidFill>
                  <a:srgbClr val="153E35"/>
                </a:solidFill>
                <a:latin typeface="Helvetica Neue"/>
                <a:ea typeface="Helvetica Neue"/>
                <a:cs typeface="Helvetica Neue"/>
              </a:defRPr>
            </a:pPr>
            <a:r>
              <a:rPr sz="2175" b="0">
                <a:solidFill>
                  <a:srgbClr val="153E35"/>
                </a:solidFill>
                <a:latin typeface="Helvetica Neue"/>
                <a:ea typeface="Helvetica Neue"/>
                <a:cs typeface="Helvetica Neue"/>
              </a:rPr>
              <a:t>A pack adds 15 seconds; the main price is 8 cash.</a:t>
            </a:r>
          </a:p>
        </p:txBody>
      </p:sp>
      <p:sp>
        <p:nvSpPr>
          <p:cNvPr id="4" name="action-choices">
            <a:extLst xmlns:a="http://schemas.openxmlformats.org/drawingml/2006/main">
              <a:ext uri="{FF2B5EF4-FFF2-40B4-BE49-F238E27FC236}">
                <a16:creationId xmlns:a16="http://schemas.microsoft.com/office/drawing/2014/main" id="{C5AD92FF-1924-4D2E-81CE-0A1F39D50458}"/>
              </a:ext>
            </a:extLst>
          </p:cNvPr>
          <p:cNvSpPr>
            <a:spLocks xmlns:a="http://schemas.openxmlformats.org/drawingml/2006/main" noGrp="1"/>
          </p:cNvSpPr>
          <p:nvPr/>
        </p:nvSpPr>
        <p:spPr>
          <a:xfrm xmlns:a="http://schemas.openxmlformats.org/drawingml/2006/main">
            <a:off x="609600" y="3371850"/>
            <a:ext cx="106680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53E35"/>
                </a:solidFill>
                <a:latin typeface="Helvetica Neue"/>
                <a:ea typeface="Helvetica Neue"/>
                <a:cs typeface="Helvetica Neue"/>
              </a:defRPr>
            </a:defPPr>
            <a:lvl1pPr algn="l">
              <a:defRPr sz="2250" b="0">
                <a:solidFill>
                  <a:srgbClr val="153E35"/>
                </a:solidFill>
                <a:latin typeface="Helvetica Neue"/>
                <a:ea typeface="Helvetica Neue"/>
                <a:cs typeface="Helvetica Neue"/>
              </a:defRPr>
            </a:lvl1pPr>
            <a:lvl2pPr algn="l">
              <a:defRPr sz="2250" b="0">
                <a:solidFill>
                  <a:srgbClr val="153E35"/>
                </a:solidFill>
                <a:latin typeface="Helvetica Neue"/>
                <a:ea typeface="Helvetica Neue"/>
                <a:cs typeface="Helvetica Neue"/>
              </a:defRPr>
            </a:lvl2pPr>
            <a:lvl3pPr algn="l">
              <a:defRPr sz="2250" b="0">
                <a:solidFill>
                  <a:srgbClr val="153E35"/>
                </a:solidFill>
                <a:latin typeface="Helvetica Neue"/>
                <a:ea typeface="Helvetica Neue"/>
                <a:cs typeface="Helvetica Neue"/>
              </a:defRPr>
            </a:lvl3pPr>
            <a:lvl4pPr algn="l">
              <a:defRPr sz="2250" b="0">
                <a:solidFill>
                  <a:srgbClr val="153E35"/>
                </a:solidFill>
                <a:latin typeface="Helvetica Neue"/>
                <a:ea typeface="Helvetica Neue"/>
                <a:cs typeface="Helvetica Neue"/>
              </a:defRPr>
            </a:lvl4pPr>
            <a:lvl5pPr algn="l">
              <a:defRPr sz="2250" b="0">
                <a:solidFill>
                  <a:srgbClr val="153E35"/>
                </a:solidFill>
                <a:latin typeface="Helvetica Neue"/>
                <a:ea typeface="Helvetica Neue"/>
                <a:cs typeface="Helvetica Neue"/>
              </a:defRPr>
            </a:lvl5pPr>
            <a:lvl6pPr algn="l">
              <a:defRPr sz="2250" b="0">
                <a:solidFill>
                  <a:srgbClr val="153E35"/>
                </a:solidFill>
                <a:latin typeface="Helvetica Neue"/>
                <a:ea typeface="Helvetica Neue"/>
                <a:cs typeface="Helvetica Neue"/>
              </a:defRPr>
            </a:lvl6pPr>
            <a:lvl7pPr algn="l">
              <a:defRPr sz="2250" b="0">
                <a:solidFill>
                  <a:srgbClr val="153E35"/>
                </a:solidFill>
                <a:latin typeface="Helvetica Neue"/>
                <a:ea typeface="Helvetica Neue"/>
                <a:cs typeface="Helvetica Neue"/>
              </a:defRPr>
            </a:lvl7pPr>
            <a:lvl8pPr algn="l">
              <a:defRPr sz="2250" b="0">
                <a:solidFill>
                  <a:srgbClr val="153E35"/>
                </a:solidFill>
                <a:latin typeface="Helvetica Neue"/>
                <a:ea typeface="Helvetica Neue"/>
                <a:cs typeface="Helvetica Neue"/>
              </a:defRPr>
            </a:lvl8pPr>
            <a:lvl9pPr algn="l">
              <a:defRPr sz="2250" b="0">
                <a:solidFill>
                  <a:srgbClr val="153E35"/>
                </a:solidFill>
                <a:latin typeface="Helvetica Neue"/>
                <a:ea typeface="Helvetica Neue"/>
                <a:cs typeface="Helvetica Neue"/>
              </a:defRPr>
            </a:lvl9pPr>
          </a:lstStyle>
          <a:p xmlns:a="http://schemas.openxmlformats.org/drawingml/2006/main">
            <a:pPr algn="l">
              <a:defRPr sz="2250" b="0">
                <a:solidFill>
                  <a:srgbClr val="153E35"/>
                </a:solidFill>
                <a:latin typeface="Helvetica Neue"/>
                <a:ea typeface="Helvetica Neue"/>
                <a:cs typeface="Helvetica Neue"/>
              </a:defRPr>
            </a:pPr>
            <a:r>
              <a:rPr sz="2250" b="0">
                <a:solidFill>
                  <a:srgbClr val="153E35"/>
                </a:solidFill>
                <a:latin typeface="Helvetica Neue"/>
                <a:ea typeface="Helvetica Neue"/>
                <a:cs typeface="Helvetica Neue"/>
              </a:rPr>
              <a:t>Exit</a:t>
            </a:r>
          </a:p>
          <a:p xmlns:a="http://schemas.openxmlformats.org/drawingml/2006/main">
            <a:pPr algn="l">
              <a:defRPr sz="2250" b="0">
                <a:solidFill>
                  <a:srgbClr val="153E35"/>
                </a:solidFill>
                <a:latin typeface="Helvetica Neue"/>
                <a:ea typeface="Helvetica Neue"/>
                <a:cs typeface="Helvetica Neue"/>
              </a:defRPr>
            </a:pPr>
            <a:r>
              <a:rPr sz="2250" b="0">
                <a:solidFill>
                  <a:srgbClr val="153E35"/>
                </a:solidFill>
                <a:latin typeface="Helvetica Neue"/>
                <a:ea typeface="Helvetica Neue"/>
                <a:cs typeface="Helvetica Neue"/>
              </a:rPr>
              <a:t>Continue with 0%, 50% or 100% invested</a:t>
            </a:r>
          </a:p>
          <a:p xmlns:a="http://schemas.openxmlformats.org/drawingml/2006/main">
            <a:pPr algn="l">
              <a:defRPr sz="2250" b="0">
                <a:solidFill>
                  <a:srgbClr val="153E35"/>
                </a:solidFill>
                <a:latin typeface="Helvetica Neue"/>
                <a:ea typeface="Helvetica Neue"/>
                <a:cs typeface="Helvetica Neue"/>
              </a:defRPr>
            </a:pPr>
            <a:r>
              <a:rPr sz="2250" b="0">
                <a:solidFill>
                  <a:srgbClr val="153E35"/>
                </a:solidFill>
                <a:latin typeface="Helvetica Neue"/>
                <a:ea typeface="Helvetica Neue"/>
                <a:cs typeface="Helvetica Neue"/>
              </a:rPr>
              <a:t>Buy a pack, then choose the same three exposures</a:t>
            </a:r>
          </a:p>
        </p:txBody>
      </p:sp>
      <p:sp>
        <p:nvSpPr>
          <p:cNvPr id="5" name="utility-formula">
            <a:extLst xmlns:a="http://schemas.openxmlformats.org/drawingml/2006/main">
              <a:ext uri="{FF2B5EF4-FFF2-40B4-BE49-F238E27FC236}">
                <a16:creationId xmlns:a16="http://schemas.microsoft.com/office/drawing/2014/main" id="{3E8230A6-8C0F-4394-9AA2-4172011C3F77}"/>
              </a:ext>
            </a:extLst>
          </p:cNvPr>
          <p:cNvSpPr>
            <a:spLocks xmlns:a="http://schemas.openxmlformats.org/drawingml/2006/main" noGrp="1"/>
          </p:cNvSpPr>
          <p:nvPr/>
        </p:nvSpPr>
        <p:spPr>
          <a:xfrm xmlns:a="http://schemas.openxmlformats.org/drawingml/2006/main">
            <a:off x="609600" y="50673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550" b="1">
                <a:solidFill>
                  <a:srgbClr val="153E35"/>
                </a:solidFill>
                <a:latin typeface="Helvetica Neue"/>
                <a:ea typeface="Helvetica Neue"/>
                <a:cs typeface="Helvetica Neue"/>
              </a:defRPr>
            </a:defPPr>
            <a:lvl1pPr algn="l">
              <a:defRPr sz="2550" b="1">
                <a:solidFill>
                  <a:srgbClr val="153E35"/>
                </a:solidFill>
                <a:latin typeface="Helvetica Neue"/>
                <a:ea typeface="Helvetica Neue"/>
                <a:cs typeface="Helvetica Neue"/>
              </a:defRPr>
            </a:lvl1pPr>
            <a:lvl2pPr algn="l">
              <a:defRPr sz="2550" b="1">
                <a:solidFill>
                  <a:srgbClr val="153E35"/>
                </a:solidFill>
                <a:latin typeface="Helvetica Neue"/>
                <a:ea typeface="Helvetica Neue"/>
                <a:cs typeface="Helvetica Neue"/>
              </a:defRPr>
            </a:lvl2pPr>
            <a:lvl3pPr algn="l">
              <a:defRPr sz="2550" b="1">
                <a:solidFill>
                  <a:srgbClr val="153E35"/>
                </a:solidFill>
                <a:latin typeface="Helvetica Neue"/>
                <a:ea typeface="Helvetica Neue"/>
                <a:cs typeface="Helvetica Neue"/>
              </a:defRPr>
            </a:lvl3pPr>
            <a:lvl4pPr algn="l">
              <a:defRPr sz="2550" b="1">
                <a:solidFill>
                  <a:srgbClr val="153E35"/>
                </a:solidFill>
                <a:latin typeface="Helvetica Neue"/>
                <a:ea typeface="Helvetica Neue"/>
                <a:cs typeface="Helvetica Neue"/>
              </a:defRPr>
            </a:lvl4pPr>
            <a:lvl5pPr algn="l">
              <a:defRPr sz="2550" b="1">
                <a:solidFill>
                  <a:srgbClr val="153E35"/>
                </a:solidFill>
                <a:latin typeface="Helvetica Neue"/>
                <a:ea typeface="Helvetica Neue"/>
                <a:cs typeface="Helvetica Neue"/>
              </a:defRPr>
            </a:lvl5pPr>
            <a:lvl6pPr algn="l">
              <a:defRPr sz="2550" b="1">
                <a:solidFill>
                  <a:srgbClr val="153E35"/>
                </a:solidFill>
                <a:latin typeface="Helvetica Neue"/>
                <a:ea typeface="Helvetica Neue"/>
                <a:cs typeface="Helvetica Neue"/>
              </a:defRPr>
            </a:lvl6pPr>
            <a:lvl7pPr algn="l">
              <a:defRPr sz="2550" b="1">
                <a:solidFill>
                  <a:srgbClr val="153E35"/>
                </a:solidFill>
                <a:latin typeface="Helvetica Neue"/>
                <a:ea typeface="Helvetica Neue"/>
                <a:cs typeface="Helvetica Neue"/>
              </a:defRPr>
            </a:lvl7pPr>
            <a:lvl8pPr algn="l">
              <a:defRPr sz="2550" b="1">
                <a:solidFill>
                  <a:srgbClr val="153E35"/>
                </a:solidFill>
                <a:latin typeface="Helvetica Neue"/>
                <a:ea typeface="Helvetica Neue"/>
                <a:cs typeface="Helvetica Neue"/>
              </a:defRPr>
            </a:lvl8pPr>
            <a:lvl9pPr algn="l">
              <a:defRPr sz="2550" b="1">
                <a:solidFill>
                  <a:srgbClr val="153E35"/>
                </a:solidFill>
                <a:latin typeface="Helvetica Neue"/>
                <a:ea typeface="Helvetica Neue"/>
                <a:cs typeface="Helvetica Neue"/>
              </a:defRPr>
            </a:lvl9pPr>
          </a:lstStyle>
          <a:p xmlns:a="http://schemas.openxmlformats.org/drawingml/2006/main">
            <a:pPr algn="l">
              <a:defRPr sz="2550" b="1">
                <a:solidFill>
                  <a:srgbClr val="153E35"/>
                </a:solidFill>
                <a:latin typeface="Helvetica Neue"/>
                <a:ea typeface="Helvetica Neue"/>
                <a:cs typeface="Helvetica Neue"/>
              </a:defRPr>
            </a:pPr>
            <a:r>
              <a:rPr sz="2550" b="1">
                <a:solidFill>
                  <a:srgbClr val="153E35"/>
                </a:solidFill>
                <a:latin typeface="Helvetica Neue"/>
                <a:ea typeface="Helvetica Neue"/>
                <a:cs typeface="Helvetica Neue"/>
              </a:rPr>
              <a:t>U(B, L) = (1 − α) ln(1 + B/100) + α ln(1 + L/90)</a:t>
            </a:r>
          </a:p>
        </p:txBody>
      </p:sp>
      <p:sp>
        <p:nvSpPr>
          <p:cNvPr id="6" name="utility-definition">
            <a:extLst xmlns:a="http://schemas.openxmlformats.org/drawingml/2006/main">
              <a:ext uri="{FF2B5EF4-FFF2-40B4-BE49-F238E27FC236}">
                <a16:creationId xmlns:a16="http://schemas.microsoft.com/office/drawing/2014/main" id="{2DE7619C-4E9F-4FAA-B95A-D624F32A3DE9}"/>
              </a:ext>
            </a:extLst>
          </p:cNvPr>
          <p:cNvSpPr>
            <a:spLocks xmlns:a="http://schemas.openxmlformats.org/drawingml/2006/main" noGrp="1"/>
          </p:cNvSpPr>
          <p:nvPr/>
        </p:nvSpPr>
        <p:spPr>
          <a:xfrm xmlns:a="http://schemas.openxmlformats.org/drawingml/2006/main">
            <a:off x="609600" y="58388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56625C"/>
                </a:solidFill>
                <a:latin typeface="Helvetica Neue"/>
                <a:ea typeface="Helvetica Neue"/>
                <a:cs typeface="Helvetica Neue"/>
              </a:defRPr>
            </a:defPPr>
            <a:lvl1pPr algn="l">
              <a:defRPr sz="1800" b="0">
                <a:solidFill>
                  <a:srgbClr val="56625C"/>
                </a:solidFill>
                <a:latin typeface="Helvetica Neue"/>
                <a:ea typeface="Helvetica Neue"/>
                <a:cs typeface="Helvetica Neue"/>
              </a:defRPr>
            </a:lvl1pPr>
            <a:lvl2pPr algn="l">
              <a:defRPr sz="1800" b="0">
                <a:solidFill>
                  <a:srgbClr val="56625C"/>
                </a:solidFill>
                <a:latin typeface="Helvetica Neue"/>
                <a:ea typeface="Helvetica Neue"/>
                <a:cs typeface="Helvetica Neue"/>
              </a:defRPr>
            </a:lvl2pPr>
            <a:lvl3pPr algn="l">
              <a:defRPr sz="1800" b="0">
                <a:solidFill>
                  <a:srgbClr val="56625C"/>
                </a:solidFill>
                <a:latin typeface="Helvetica Neue"/>
                <a:ea typeface="Helvetica Neue"/>
                <a:cs typeface="Helvetica Neue"/>
              </a:defRPr>
            </a:lvl3pPr>
            <a:lvl4pPr algn="l">
              <a:defRPr sz="1800" b="0">
                <a:solidFill>
                  <a:srgbClr val="56625C"/>
                </a:solidFill>
                <a:latin typeface="Helvetica Neue"/>
                <a:ea typeface="Helvetica Neue"/>
                <a:cs typeface="Helvetica Neue"/>
              </a:defRPr>
            </a:lvl4pPr>
            <a:lvl5pPr algn="l">
              <a:defRPr sz="1800" b="0">
                <a:solidFill>
                  <a:srgbClr val="56625C"/>
                </a:solidFill>
                <a:latin typeface="Helvetica Neue"/>
                <a:ea typeface="Helvetica Neue"/>
                <a:cs typeface="Helvetica Neue"/>
              </a:defRPr>
            </a:lvl5pPr>
            <a:lvl6pPr algn="l">
              <a:defRPr sz="1800" b="0">
                <a:solidFill>
                  <a:srgbClr val="56625C"/>
                </a:solidFill>
                <a:latin typeface="Helvetica Neue"/>
                <a:ea typeface="Helvetica Neue"/>
                <a:cs typeface="Helvetica Neue"/>
              </a:defRPr>
            </a:lvl6pPr>
            <a:lvl7pPr algn="l">
              <a:defRPr sz="1800" b="0">
                <a:solidFill>
                  <a:srgbClr val="56625C"/>
                </a:solidFill>
                <a:latin typeface="Helvetica Neue"/>
                <a:ea typeface="Helvetica Neue"/>
                <a:cs typeface="Helvetica Neue"/>
              </a:defRPr>
            </a:lvl7pPr>
            <a:lvl8pPr algn="l">
              <a:defRPr sz="1800" b="0">
                <a:solidFill>
                  <a:srgbClr val="56625C"/>
                </a:solidFill>
                <a:latin typeface="Helvetica Neue"/>
                <a:ea typeface="Helvetica Neue"/>
                <a:cs typeface="Helvetica Neue"/>
              </a:defRPr>
            </a:lvl8pPr>
            <a:lvl9pPr algn="l">
              <a:defRPr sz="1800" b="0">
                <a:solidFill>
                  <a:srgbClr val="56625C"/>
                </a:solidFill>
                <a:latin typeface="Helvetica Neue"/>
                <a:ea typeface="Helvetica Neue"/>
                <a:cs typeface="Helvetica Neue"/>
              </a:defRPr>
            </a:lvl9pPr>
          </a:lstStyle>
          <a:p xmlns:a="http://schemas.openxmlformats.org/drawingml/2006/main">
            <a:pPr algn="l">
              <a:defRPr sz="1800" b="0">
                <a:solidFill>
                  <a:srgbClr val="56625C"/>
                </a:solidFill>
                <a:latin typeface="Helvetica Neue"/>
                <a:ea typeface="Helvetica Neue"/>
                <a:cs typeface="Helvetica Neue"/>
              </a:defRPr>
            </a:pPr>
            <a:r>
              <a:rPr sz="1800" b="0">
                <a:solidFill>
                  <a:srgbClr val="56625C"/>
                </a:solidFill>
                <a:latin typeface="Helvetica Neue"/>
                <a:ea typeface="Helvetica Neue"/>
                <a:cs typeface="Helvetica Neue"/>
              </a:rPr>
              <a:t>B: cash after settlement   ·   L: remaining budget   ·   α: time preference</a:t>
            </a:r>
          </a:p>
          <a:p xmlns:a="http://schemas.openxmlformats.org/drawingml/2006/main">
            <a:pPr algn="l">
              <a:defRPr sz="1800" b="0">
                <a:solidFill>
                  <a:srgbClr val="56625C"/>
                </a:solidFill>
                <a:latin typeface="Helvetica Neue"/>
                <a:ea typeface="Helvetica Neue"/>
                <a:cs typeface="Helvetica Neue"/>
              </a:defRPr>
            </a:pPr>
            <a:r>
              <a:rPr sz="1800" b="0">
                <a:solidFill>
                  <a:srgbClr val="56625C"/>
                </a:solidFill>
                <a:latin typeface="Helvetica Neue"/>
                <a:ea typeface="Helvetica Neue"/>
                <a:cs typeface="Helvetica Neue"/>
              </a:rPr>
              <a:t>Budget seconds are model units, not measured human lifespan.</a:t>
            </a:r>
          </a:p>
        </p:txBody>
      </p:sp>
    </p:spTree>
    <p:extLst>
      <p:ext uri="{BB962C8B-B14F-4D97-AF65-F5344CB8AC3E}">
        <p14:creationId xmlns:p14="http://schemas.microsoft.com/office/powerpoint/2010/main" val="58423747"/>
      </p:ext>
    </p:extLst>
  </p:cSld>
</p:sld>
</file>

<file path=ppt/slides/slide3.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F72F54F0-93BA-4E8C-80CC-2862A44BF8A8}"/>
              </a:ext>
            </a:extLst>
          </p:cNvPr>
          <p:cNvSpPr>
            <a:spLocks xmlns:a="http://schemas.openxmlformats.org/drawingml/2006/main" noGrp="1"/>
          </p:cNvSpPr>
          <p:nvPr/>
        </p:nvSpPr>
        <p:spPr>
          <a:xfrm xmlns:a="http://schemas.openxmlformats.org/drawingml/2006/main">
            <a:off x="609600" y="4572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53E35"/>
                </a:solidFill>
                <a:latin typeface="Helvetica Neue"/>
                <a:ea typeface="Helvetica Neue"/>
                <a:cs typeface="Helvetica Neue"/>
              </a:defRPr>
            </a:defPPr>
            <a:lvl1pPr algn="l">
              <a:defRPr sz="3450" b="1">
                <a:solidFill>
                  <a:srgbClr val="153E35"/>
                </a:solidFill>
                <a:latin typeface="Helvetica Neue"/>
                <a:ea typeface="Helvetica Neue"/>
                <a:cs typeface="Helvetica Neue"/>
              </a:defRPr>
            </a:lvl1pPr>
            <a:lvl2pPr algn="l">
              <a:defRPr sz="3450" b="1">
                <a:solidFill>
                  <a:srgbClr val="153E35"/>
                </a:solidFill>
                <a:latin typeface="Helvetica Neue"/>
                <a:ea typeface="Helvetica Neue"/>
                <a:cs typeface="Helvetica Neue"/>
              </a:defRPr>
            </a:lvl2pPr>
            <a:lvl3pPr algn="l">
              <a:defRPr sz="3450" b="1">
                <a:solidFill>
                  <a:srgbClr val="153E35"/>
                </a:solidFill>
                <a:latin typeface="Helvetica Neue"/>
                <a:ea typeface="Helvetica Neue"/>
                <a:cs typeface="Helvetica Neue"/>
              </a:defRPr>
            </a:lvl3pPr>
            <a:lvl4pPr algn="l">
              <a:defRPr sz="3450" b="1">
                <a:solidFill>
                  <a:srgbClr val="153E35"/>
                </a:solidFill>
                <a:latin typeface="Helvetica Neue"/>
                <a:ea typeface="Helvetica Neue"/>
                <a:cs typeface="Helvetica Neue"/>
              </a:defRPr>
            </a:lvl4pPr>
            <a:lvl5pPr algn="l">
              <a:defRPr sz="3450" b="1">
                <a:solidFill>
                  <a:srgbClr val="153E35"/>
                </a:solidFill>
                <a:latin typeface="Helvetica Neue"/>
                <a:ea typeface="Helvetica Neue"/>
                <a:cs typeface="Helvetica Neue"/>
              </a:defRPr>
            </a:lvl5pPr>
            <a:lvl6pPr algn="l">
              <a:defRPr sz="3450" b="1">
                <a:solidFill>
                  <a:srgbClr val="153E35"/>
                </a:solidFill>
                <a:latin typeface="Helvetica Neue"/>
                <a:ea typeface="Helvetica Neue"/>
                <a:cs typeface="Helvetica Neue"/>
              </a:defRPr>
            </a:lvl6pPr>
            <a:lvl7pPr algn="l">
              <a:defRPr sz="3450" b="1">
                <a:solidFill>
                  <a:srgbClr val="153E35"/>
                </a:solidFill>
                <a:latin typeface="Helvetica Neue"/>
                <a:ea typeface="Helvetica Neue"/>
                <a:cs typeface="Helvetica Neue"/>
              </a:defRPr>
            </a:lvl7pPr>
            <a:lvl8pPr algn="l">
              <a:defRPr sz="3450" b="1">
                <a:solidFill>
                  <a:srgbClr val="153E35"/>
                </a:solidFill>
                <a:latin typeface="Helvetica Neue"/>
                <a:ea typeface="Helvetica Neue"/>
                <a:cs typeface="Helvetica Neue"/>
              </a:defRPr>
            </a:lvl8pPr>
            <a:lvl9pPr algn="l">
              <a:defRPr sz="3450" b="1">
                <a:solidFill>
                  <a:srgbClr val="153E35"/>
                </a:solidFill>
                <a:latin typeface="Helvetica Neue"/>
                <a:ea typeface="Helvetica Neue"/>
                <a:cs typeface="Helvetica Neue"/>
              </a:defRPr>
            </a:lvl9pPr>
          </a:lstStyle>
          <a:p xmlns:a="http://schemas.openxmlformats.org/drawingml/2006/main">
            <a:pPr algn="l">
              <a:defRPr sz="3450" b="1">
                <a:solidFill>
                  <a:srgbClr val="153E35"/>
                </a:solidFill>
                <a:latin typeface="Helvetica Neue"/>
                <a:ea typeface="Helvetica Neue"/>
                <a:cs typeface="Helvetica Neue"/>
              </a:defRPr>
            </a:pPr>
            <a:r>
              <a:rPr sz="3450" b="1">
                <a:solidFill>
                  <a:srgbClr val="153E35"/>
                </a:solidFill>
                <a:latin typeface="Helvetica Neue"/>
                <a:ea typeface="Helvetica Neue"/>
                <a:cs typeface="Helvetica Neue"/>
              </a:rPr>
              <a:t>Real prices, explicit time costs</a:t>
            </a:r>
          </a:p>
        </p:txBody>
      </p:sp>
      <p:sp>
        <p:nvSpPr>
          <p:cNvPr id="2" name="training-period">
            <a:extLst xmlns:a="http://schemas.openxmlformats.org/drawingml/2006/main">
              <a:ext uri="{FF2B5EF4-FFF2-40B4-BE49-F238E27FC236}">
                <a16:creationId xmlns:a16="http://schemas.microsoft.com/office/drawing/2014/main" id="{100F047A-FA45-412E-8648-30F38F51BC9C}"/>
              </a:ext>
            </a:extLst>
          </p:cNvPr>
          <p:cNvSpPr>
            <a:spLocks xmlns:a="http://schemas.openxmlformats.org/drawingml/2006/main" noGrp="1"/>
          </p:cNvSpPr>
          <p:nvPr/>
        </p:nvSpPr>
        <p:spPr>
          <a:xfrm xmlns:a="http://schemas.openxmlformats.org/drawingml/2006/main">
            <a:off x="609600" y="1619250"/>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700" b="1">
                <a:solidFill>
                  <a:srgbClr val="153E35"/>
                </a:solidFill>
                <a:latin typeface="Helvetica Neue"/>
                <a:ea typeface="Helvetica Neue"/>
                <a:cs typeface="Helvetica Neue"/>
              </a:defRPr>
            </a:defPPr>
            <a:lvl1pPr algn="l">
              <a:defRPr sz="2700" b="1">
                <a:solidFill>
                  <a:srgbClr val="153E35"/>
                </a:solidFill>
                <a:latin typeface="Helvetica Neue"/>
                <a:ea typeface="Helvetica Neue"/>
                <a:cs typeface="Helvetica Neue"/>
              </a:defRPr>
            </a:lvl1pPr>
            <a:lvl2pPr algn="l">
              <a:defRPr sz="2700" b="1">
                <a:solidFill>
                  <a:srgbClr val="153E35"/>
                </a:solidFill>
                <a:latin typeface="Helvetica Neue"/>
                <a:ea typeface="Helvetica Neue"/>
                <a:cs typeface="Helvetica Neue"/>
              </a:defRPr>
            </a:lvl2pPr>
            <a:lvl3pPr algn="l">
              <a:defRPr sz="2700" b="1">
                <a:solidFill>
                  <a:srgbClr val="153E35"/>
                </a:solidFill>
                <a:latin typeface="Helvetica Neue"/>
                <a:ea typeface="Helvetica Neue"/>
                <a:cs typeface="Helvetica Neue"/>
              </a:defRPr>
            </a:lvl3pPr>
            <a:lvl4pPr algn="l">
              <a:defRPr sz="2700" b="1">
                <a:solidFill>
                  <a:srgbClr val="153E35"/>
                </a:solidFill>
                <a:latin typeface="Helvetica Neue"/>
                <a:ea typeface="Helvetica Neue"/>
                <a:cs typeface="Helvetica Neue"/>
              </a:defRPr>
            </a:lvl4pPr>
            <a:lvl5pPr algn="l">
              <a:defRPr sz="2700" b="1">
                <a:solidFill>
                  <a:srgbClr val="153E35"/>
                </a:solidFill>
                <a:latin typeface="Helvetica Neue"/>
                <a:ea typeface="Helvetica Neue"/>
                <a:cs typeface="Helvetica Neue"/>
              </a:defRPr>
            </a:lvl5pPr>
            <a:lvl6pPr algn="l">
              <a:defRPr sz="2700" b="1">
                <a:solidFill>
                  <a:srgbClr val="153E35"/>
                </a:solidFill>
                <a:latin typeface="Helvetica Neue"/>
                <a:ea typeface="Helvetica Neue"/>
                <a:cs typeface="Helvetica Neue"/>
              </a:defRPr>
            </a:lvl6pPr>
            <a:lvl7pPr algn="l">
              <a:defRPr sz="2700" b="1">
                <a:solidFill>
                  <a:srgbClr val="153E35"/>
                </a:solidFill>
                <a:latin typeface="Helvetica Neue"/>
                <a:ea typeface="Helvetica Neue"/>
                <a:cs typeface="Helvetica Neue"/>
              </a:defRPr>
            </a:lvl7pPr>
            <a:lvl8pPr algn="l">
              <a:defRPr sz="2700" b="1">
                <a:solidFill>
                  <a:srgbClr val="153E35"/>
                </a:solidFill>
                <a:latin typeface="Helvetica Neue"/>
                <a:ea typeface="Helvetica Neue"/>
                <a:cs typeface="Helvetica Neue"/>
              </a:defRPr>
            </a:lvl8pPr>
            <a:lvl9pPr algn="l">
              <a:defRPr sz="2700" b="1">
                <a:solidFill>
                  <a:srgbClr val="153E35"/>
                </a:solidFill>
                <a:latin typeface="Helvetica Neue"/>
                <a:ea typeface="Helvetica Neue"/>
                <a:cs typeface="Helvetica Neue"/>
              </a:defRPr>
            </a:lvl9pPr>
          </a:lstStyle>
          <a:p xmlns:a="http://schemas.openxmlformats.org/drawingml/2006/main">
            <a:pPr algn="l">
              <a:defRPr sz="2700" b="1">
                <a:solidFill>
                  <a:srgbClr val="153E35"/>
                </a:solidFill>
                <a:latin typeface="Helvetica Neue"/>
                <a:ea typeface="Helvetica Neue"/>
                <a:cs typeface="Helvetica Neue"/>
              </a:defRPr>
            </a:pPr>
            <a:r>
              <a:rPr sz="2700" b="1">
                <a:solidFill>
                  <a:srgbClr val="153E35"/>
                </a:solidFill>
                <a:latin typeface="Helvetica Neue"/>
                <a:ea typeface="Helvetica Neue"/>
                <a:cs typeface="Helvetica Neue"/>
              </a:rPr>
              <a:t>BTC 2022–2025</a:t>
            </a:r>
          </a:p>
        </p:txBody>
      </p:sp>
      <p:sp>
        <p:nvSpPr>
          <p:cNvPr id="3" name="frozen-model">
            <a:extLst xmlns:a="http://schemas.openxmlformats.org/drawingml/2006/main">
              <a:ext uri="{FF2B5EF4-FFF2-40B4-BE49-F238E27FC236}">
                <a16:creationId xmlns:a16="http://schemas.microsoft.com/office/drawing/2014/main" id="{3C826AFF-346D-4D37-8D04-7B85F6D67216}"/>
              </a:ext>
            </a:extLst>
          </p:cNvPr>
          <p:cNvSpPr>
            <a:spLocks xmlns:a="http://schemas.openxmlformats.org/drawingml/2006/main" noGrp="1"/>
          </p:cNvSpPr>
          <p:nvPr/>
        </p:nvSpPr>
        <p:spPr>
          <a:xfrm xmlns:a="http://schemas.openxmlformats.org/drawingml/2006/main">
            <a:off x="609600" y="2286000"/>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325" b="0">
                <a:solidFill>
                  <a:srgbClr val="153E35"/>
                </a:solidFill>
                <a:latin typeface="Helvetica Neue"/>
                <a:ea typeface="Helvetica Neue"/>
                <a:cs typeface="Helvetica Neue"/>
              </a:defRPr>
            </a:defPPr>
            <a:lvl1pPr algn="l">
              <a:defRPr sz="2325" b="0">
                <a:solidFill>
                  <a:srgbClr val="153E35"/>
                </a:solidFill>
                <a:latin typeface="Helvetica Neue"/>
                <a:ea typeface="Helvetica Neue"/>
                <a:cs typeface="Helvetica Neue"/>
              </a:defRPr>
            </a:lvl1pPr>
            <a:lvl2pPr algn="l">
              <a:defRPr sz="2325" b="0">
                <a:solidFill>
                  <a:srgbClr val="153E35"/>
                </a:solidFill>
                <a:latin typeface="Helvetica Neue"/>
                <a:ea typeface="Helvetica Neue"/>
                <a:cs typeface="Helvetica Neue"/>
              </a:defRPr>
            </a:lvl2pPr>
            <a:lvl3pPr algn="l">
              <a:defRPr sz="2325" b="0">
                <a:solidFill>
                  <a:srgbClr val="153E35"/>
                </a:solidFill>
                <a:latin typeface="Helvetica Neue"/>
                <a:ea typeface="Helvetica Neue"/>
                <a:cs typeface="Helvetica Neue"/>
              </a:defRPr>
            </a:lvl3pPr>
            <a:lvl4pPr algn="l">
              <a:defRPr sz="2325" b="0">
                <a:solidFill>
                  <a:srgbClr val="153E35"/>
                </a:solidFill>
                <a:latin typeface="Helvetica Neue"/>
                <a:ea typeface="Helvetica Neue"/>
                <a:cs typeface="Helvetica Neue"/>
              </a:defRPr>
            </a:lvl4pPr>
            <a:lvl5pPr algn="l">
              <a:defRPr sz="2325" b="0">
                <a:solidFill>
                  <a:srgbClr val="153E35"/>
                </a:solidFill>
                <a:latin typeface="Helvetica Neue"/>
                <a:ea typeface="Helvetica Neue"/>
                <a:cs typeface="Helvetica Neue"/>
              </a:defRPr>
            </a:lvl5pPr>
            <a:lvl6pPr algn="l">
              <a:defRPr sz="2325" b="0">
                <a:solidFill>
                  <a:srgbClr val="153E35"/>
                </a:solidFill>
                <a:latin typeface="Helvetica Neue"/>
                <a:ea typeface="Helvetica Neue"/>
                <a:cs typeface="Helvetica Neue"/>
              </a:defRPr>
            </a:lvl6pPr>
            <a:lvl7pPr algn="l">
              <a:defRPr sz="2325" b="0">
                <a:solidFill>
                  <a:srgbClr val="153E35"/>
                </a:solidFill>
                <a:latin typeface="Helvetica Neue"/>
                <a:ea typeface="Helvetica Neue"/>
                <a:cs typeface="Helvetica Neue"/>
              </a:defRPr>
            </a:lvl7pPr>
            <a:lvl8pPr algn="l">
              <a:defRPr sz="2325" b="0">
                <a:solidFill>
                  <a:srgbClr val="153E35"/>
                </a:solidFill>
                <a:latin typeface="Helvetica Neue"/>
                <a:ea typeface="Helvetica Neue"/>
                <a:cs typeface="Helvetica Neue"/>
              </a:defRPr>
            </a:lvl8pPr>
            <a:lvl9pPr algn="l">
              <a:defRPr sz="2325" b="0">
                <a:solidFill>
                  <a:srgbClr val="153E35"/>
                </a:solidFill>
                <a:latin typeface="Helvetica Neue"/>
                <a:ea typeface="Helvetica Neue"/>
                <a:cs typeface="Helvetica Neue"/>
              </a:defRPr>
            </a:lvl9pPr>
          </a:lstStyle>
          <a:p xmlns:a="http://schemas.openxmlformats.org/drawingml/2006/main">
            <a:pPr algn="l">
              <a:defRPr sz="2325" b="0">
                <a:solidFill>
                  <a:srgbClr val="153E35"/>
                </a:solidFill>
                <a:latin typeface="Helvetica Neue"/>
                <a:ea typeface="Helvetica Neue"/>
                <a:cs typeface="Helvetica Neue"/>
              </a:defRPr>
            </a:pPr>
            <a:r>
              <a:rPr sz="2325" b="0">
                <a:solidFill>
                  <a:srgbClr val="153E35"/>
                </a:solidFill>
                <a:latin typeface="Helvetica Neue"/>
                <a:ea typeface="Helvetica Neue"/>
                <a:cs typeface="Helvetica Neue"/>
              </a:rPr>
              <a:t>Frozen market model</a:t>
            </a:r>
          </a:p>
        </p:txBody>
      </p:sp>
      <p:sp>
        <p:nvSpPr>
          <p:cNvPr id="4" name="replay-period">
            <a:extLst xmlns:a="http://schemas.openxmlformats.org/drawingml/2006/main">
              <a:ext uri="{FF2B5EF4-FFF2-40B4-BE49-F238E27FC236}">
                <a16:creationId xmlns:a16="http://schemas.microsoft.com/office/drawing/2014/main" id="{134889D4-E2FF-40F1-B665-311CF7275656}"/>
              </a:ext>
            </a:extLst>
          </p:cNvPr>
          <p:cNvSpPr>
            <a:spLocks xmlns:a="http://schemas.openxmlformats.org/drawingml/2006/main" noGrp="1"/>
          </p:cNvSpPr>
          <p:nvPr/>
        </p:nvSpPr>
        <p:spPr>
          <a:xfrm xmlns:a="http://schemas.openxmlformats.org/drawingml/2006/main">
            <a:off x="609600" y="2971800"/>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325" b="0">
                <a:solidFill>
                  <a:srgbClr val="153E35"/>
                </a:solidFill>
                <a:latin typeface="Helvetica Neue"/>
                <a:ea typeface="Helvetica Neue"/>
                <a:cs typeface="Helvetica Neue"/>
              </a:defRPr>
            </a:defPPr>
            <a:lvl1pPr algn="l">
              <a:defRPr sz="2325" b="0">
                <a:solidFill>
                  <a:srgbClr val="153E35"/>
                </a:solidFill>
                <a:latin typeface="Helvetica Neue"/>
                <a:ea typeface="Helvetica Neue"/>
                <a:cs typeface="Helvetica Neue"/>
              </a:defRPr>
            </a:lvl1pPr>
            <a:lvl2pPr algn="l">
              <a:defRPr sz="2325" b="0">
                <a:solidFill>
                  <a:srgbClr val="153E35"/>
                </a:solidFill>
                <a:latin typeface="Helvetica Neue"/>
                <a:ea typeface="Helvetica Neue"/>
                <a:cs typeface="Helvetica Neue"/>
              </a:defRPr>
            </a:lvl2pPr>
            <a:lvl3pPr algn="l">
              <a:defRPr sz="2325" b="0">
                <a:solidFill>
                  <a:srgbClr val="153E35"/>
                </a:solidFill>
                <a:latin typeface="Helvetica Neue"/>
                <a:ea typeface="Helvetica Neue"/>
                <a:cs typeface="Helvetica Neue"/>
              </a:defRPr>
            </a:lvl3pPr>
            <a:lvl4pPr algn="l">
              <a:defRPr sz="2325" b="0">
                <a:solidFill>
                  <a:srgbClr val="153E35"/>
                </a:solidFill>
                <a:latin typeface="Helvetica Neue"/>
                <a:ea typeface="Helvetica Neue"/>
                <a:cs typeface="Helvetica Neue"/>
              </a:defRPr>
            </a:lvl4pPr>
            <a:lvl5pPr algn="l">
              <a:defRPr sz="2325" b="0">
                <a:solidFill>
                  <a:srgbClr val="153E35"/>
                </a:solidFill>
                <a:latin typeface="Helvetica Neue"/>
                <a:ea typeface="Helvetica Neue"/>
                <a:cs typeface="Helvetica Neue"/>
              </a:defRPr>
            </a:lvl5pPr>
            <a:lvl6pPr algn="l">
              <a:defRPr sz="2325" b="0">
                <a:solidFill>
                  <a:srgbClr val="153E35"/>
                </a:solidFill>
                <a:latin typeface="Helvetica Neue"/>
                <a:ea typeface="Helvetica Neue"/>
                <a:cs typeface="Helvetica Neue"/>
              </a:defRPr>
            </a:lvl6pPr>
            <a:lvl7pPr algn="l">
              <a:defRPr sz="2325" b="0">
                <a:solidFill>
                  <a:srgbClr val="153E35"/>
                </a:solidFill>
                <a:latin typeface="Helvetica Neue"/>
                <a:ea typeface="Helvetica Neue"/>
                <a:cs typeface="Helvetica Neue"/>
              </a:defRPr>
            </a:lvl7pPr>
            <a:lvl8pPr algn="l">
              <a:defRPr sz="2325" b="0">
                <a:solidFill>
                  <a:srgbClr val="153E35"/>
                </a:solidFill>
                <a:latin typeface="Helvetica Neue"/>
                <a:ea typeface="Helvetica Neue"/>
                <a:cs typeface="Helvetica Neue"/>
              </a:defRPr>
            </a:lvl8pPr>
            <a:lvl9pPr algn="l">
              <a:defRPr sz="2325" b="0">
                <a:solidFill>
                  <a:srgbClr val="153E35"/>
                </a:solidFill>
                <a:latin typeface="Helvetica Neue"/>
                <a:ea typeface="Helvetica Neue"/>
                <a:cs typeface="Helvetica Neue"/>
              </a:defRPr>
            </a:lvl9pPr>
          </a:lstStyle>
          <a:p xmlns:a="http://schemas.openxmlformats.org/drawingml/2006/main">
            <a:pPr algn="l">
              <a:defRPr sz="2325" b="0">
                <a:solidFill>
                  <a:srgbClr val="153E35"/>
                </a:solidFill>
                <a:latin typeface="Helvetica Neue"/>
                <a:ea typeface="Helvetica Neue"/>
                <a:cs typeface="Helvetica Neue"/>
              </a:defRPr>
            </a:pPr>
            <a:r>
              <a:rPr sz="2325" b="0">
                <a:solidFill>
                  <a:srgbClr val="153E35"/>
                </a:solidFill>
                <a:latin typeface="Helvetica Neue"/>
                <a:ea typeface="Helvetica Neue"/>
                <a:cs typeface="Helvetica Neue"/>
              </a:rPr>
              <a:t>BTC + ETH</a:t>
            </a:r>
          </a:p>
          <a:p xmlns:a="http://schemas.openxmlformats.org/drawingml/2006/main">
            <a:pPr algn="l">
              <a:defRPr sz="2325" b="0">
                <a:solidFill>
                  <a:srgbClr val="153E35"/>
                </a:solidFill>
                <a:latin typeface="Helvetica Neue"/>
                <a:ea typeface="Helvetica Neue"/>
                <a:cs typeface="Helvetica Neue"/>
              </a:defRPr>
            </a:pPr>
            <a:r>
              <a:rPr sz="2325" b="0">
                <a:solidFill>
                  <a:srgbClr val="153E35"/>
                </a:solidFill>
                <a:latin typeface="Helvetica Neue"/>
                <a:ea typeface="Helvetica Neue"/>
                <a:cs typeface="Helvetica Neue"/>
              </a:rPr>
              <a:t>January–September 2026</a:t>
            </a:r>
          </a:p>
        </p:txBody>
      </p:sp>
      <p:sp>
        <p:nvSpPr>
          <p:cNvPr id="5" name="episode-count">
            <a:extLst xmlns:a="http://schemas.openxmlformats.org/drawingml/2006/main">
              <a:ext uri="{FF2B5EF4-FFF2-40B4-BE49-F238E27FC236}">
                <a16:creationId xmlns:a16="http://schemas.microsoft.com/office/drawing/2014/main" id="{4595112A-8F06-4AC8-A569-6414AE0B3817}"/>
              </a:ext>
            </a:extLst>
          </p:cNvPr>
          <p:cNvSpPr>
            <a:spLocks xmlns:a="http://schemas.openxmlformats.org/drawingml/2006/main" noGrp="1"/>
          </p:cNvSpPr>
          <p:nvPr/>
        </p:nvSpPr>
        <p:spPr>
          <a:xfrm xmlns:a="http://schemas.openxmlformats.org/drawingml/2006/main">
            <a:off x="609600" y="4314825"/>
            <a:ext cx="4095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400" b="1">
                <a:solidFill>
                  <a:srgbClr val="153E35"/>
                </a:solidFill>
                <a:latin typeface="Helvetica Neue"/>
                <a:ea typeface="Helvetica Neue"/>
                <a:cs typeface="Helvetica Neue"/>
              </a:defRPr>
            </a:defPPr>
            <a:lvl1pPr algn="l">
              <a:defRPr sz="2400" b="1">
                <a:solidFill>
                  <a:srgbClr val="153E35"/>
                </a:solidFill>
                <a:latin typeface="Helvetica Neue"/>
                <a:ea typeface="Helvetica Neue"/>
                <a:cs typeface="Helvetica Neue"/>
              </a:defRPr>
            </a:lvl1pPr>
            <a:lvl2pPr algn="l">
              <a:defRPr sz="2400" b="1">
                <a:solidFill>
                  <a:srgbClr val="153E35"/>
                </a:solidFill>
                <a:latin typeface="Helvetica Neue"/>
                <a:ea typeface="Helvetica Neue"/>
                <a:cs typeface="Helvetica Neue"/>
              </a:defRPr>
            </a:lvl2pPr>
            <a:lvl3pPr algn="l">
              <a:defRPr sz="2400" b="1">
                <a:solidFill>
                  <a:srgbClr val="153E35"/>
                </a:solidFill>
                <a:latin typeface="Helvetica Neue"/>
                <a:ea typeface="Helvetica Neue"/>
                <a:cs typeface="Helvetica Neue"/>
              </a:defRPr>
            </a:lvl3pPr>
            <a:lvl4pPr algn="l">
              <a:defRPr sz="2400" b="1">
                <a:solidFill>
                  <a:srgbClr val="153E35"/>
                </a:solidFill>
                <a:latin typeface="Helvetica Neue"/>
                <a:ea typeface="Helvetica Neue"/>
                <a:cs typeface="Helvetica Neue"/>
              </a:defRPr>
            </a:lvl4pPr>
            <a:lvl5pPr algn="l">
              <a:defRPr sz="2400" b="1">
                <a:solidFill>
                  <a:srgbClr val="153E35"/>
                </a:solidFill>
                <a:latin typeface="Helvetica Neue"/>
                <a:ea typeface="Helvetica Neue"/>
                <a:cs typeface="Helvetica Neue"/>
              </a:defRPr>
            </a:lvl5pPr>
            <a:lvl6pPr algn="l">
              <a:defRPr sz="2400" b="1">
                <a:solidFill>
                  <a:srgbClr val="153E35"/>
                </a:solidFill>
                <a:latin typeface="Helvetica Neue"/>
                <a:ea typeface="Helvetica Neue"/>
                <a:cs typeface="Helvetica Neue"/>
              </a:defRPr>
            </a:lvl6pPr>
            <a:lvl7pPr algn="l">
              <a:defRPr sz="2400" b="1">
                <a:solidFill>
                  <a:srgbClr val="153E35"/>
                </a:solidFill>
                <a:latin typeface="Helvetica Neue"/>
                <a:ea typeface="Helvetica Neue"/>
                <a:cs typeface="Helvetica Neue"/>
              </a:defRPr>
            </a:lvl7pPr>
            <a:lvl8pPr algn="l">
              <a:defRPr sz="2400" b="1">
                <a:solidFill>
                  <a:srgbClr val="153E35"/>
                </a:solidFill>
                <a:latin typeface="Helvetica Neue"/>
                <a:ea typeface="Helvetica Neue"/>
                <a:cs typeface="Helvetica Neue"/>
              </a:defRPr>
            </a:lvl8pPr>
            <a:lvl9pPr algn="l">
              <a:defRPr sz="2400" b="1">
                <a:solidFill>
                  <a:srgbClr val="153E35"/>
                </a:solidFill>
                <a:latin typeface="Helvetica Neue"/>
                <a:ea typeface="Helvetica Neue"/>
                <a:cs typeface="Helvetica Neue"/>
              </a:defRPr>
            </a:lvl9pPr>
          </a:lstStyle>
          <a:p xmlns:a="http://schemas.openxmlformats.org/drawingml/2006/main">
            <a:pPr algn="l">
              <a:defRPr sz="2400" b="1">
                <a:solidFill>
                  <a:srgbClr val="153E35"/>
                </a:solidFill>
                <a:latin typeface="Helvetica Neue"/>
                <a:ea typeface="Helvetica Neue"/>
                <a:cs typeface="Helvetica Neue"/>
              </a:defRPr>
            </a:pPr>
            <a:r>
              <a:rPr sz="2400" b="1">
                <a:solidFill>
                  <a:srgbClr val="153E35"/>
                </a:solidFill>
                <a:latin typeface="Helvetica Neue"/>
                <a:ea typeface="Helvetica Neue"/>
                <a:cs typeface="Helvetica Neue"/>
              </a:rPr>
              <a:t>61,344 replay episodes</a:t>
            </a:r>
          </a:p>
        </p:txBody>
      </p:sp>
      <p:sp>
        <p:nvSpPr>
          <p:cNvPr id="6" name="baseline-table-caption">
            <a:extLst xmlns:a="http://schemas.openxmlformats.org/drawingml/2006/main">
              <a:ext uri="{FF2B5EF4-FFF2-40B4-BE49-F238E27FC236}">
                <a16:creationId xmlns:a16="http://schemas.microsoft.com/office/drawing/2014/main" id="{E6A369BE-1FA1-45DA-9445-15792EBDCD3D}"/>
              </a:ext>
            </a:extLst>
          </p:cNvPr>
          <p:cNvSpPr>
            <a:spLocks xmlns:a="http://schemas.openxmlformats.org/drawingml/2006/main" noGrp="1"/>
          </p:cNvSpPr>
          <p:nvPr/>
        </p:nvSpPr>
        <p:spPr>
          <a:xfrm xmlns:a="http://schemas.openxmlformats.org/drawingml/2006/main">
            <a:off x="5334000" y="1581150"/>
            <a:ext cx="624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550" b="1">
                <a:solidFill>
                  <a:srgbClr val="153E35"/>
                </a:solidFill>
                <a:latin typeface="Helvetica Neue"/>
                <a:ea typeface="Helvetica Neue"/>
                <a:cs typeface="Helvetica Neue"/>
              </a:defRPr>
            </a:defPPr>
            <a:lvl1pPr algn="l">
              <a:defRPr sz="2550" b="1">
                <a:solidFill>
                  <a:srgbClr val="153E35"/>
                </a:solidFill>
                <a:latin typeface="Helvetica Neue"/>
                <a:ea typeface="Helvetica Neue"/>
                <a:cs typeface="Helvetica Neue"/>
              </a:defRPr>
            </a:lvl1pPr>
            <a:lvl2pPr algn="l">
              <a:defRPr sz="2550" b="1">
                <a:solidFill>
                  <a:srgbClr val="153E35"/>
                </a:solidFill>
                <a:latin typeface="Helvetica Neue"/>
                <a:ea typeface="Helvetica Neue"/>
                <a:cs typeface="Helvetica Neue"/>
              </a:defRPr>
            </a:lvl2pPr>
            <a:lvl3pPr algn="l">
              <a:defRPr sz="2550" b="1">
                <a:solidFill>
                  <a:srgbClr val="153E35"/>
                </a:solidFill>
                <a:latin typeface="Helvetica Neue"/>
                <a:ea typeface="Helvetica Neue"/>
                <a:cs typeface="Helvetica Neue"/>
              </a:defRPr>
            </a:lvl3pPr>
            <a:lvl4pPr algn="l">
              <a:defRPr sz="2550" b="1">
                <a:solidFill>
                  <a:srgbClr val="153E35"/>
                </a:solidFill>
                <a:latin typeface="Helvetica Neue"/>
                <a:ea typeface="Helvetica Neue"/>
                <a:cs typeface="Helvetica Neue"/>
              </a:defRPr>
            </a:lvl4pPr>
            <a:lvl5pPr algn="l">
              <a:defRPr sz="2550" b="1">
                <a:solidFill>
                  <a:srgbClr val="153E35"/>
                </a:solidFill>
                <a:latin typeface="Helvetica Neue"/>
                <a:ea typeface="Helvetica Neue"/>
                <a:cs typeface="Helvetica Neue"/>
              </a:defRPr>
            </a:lvl5pPr>
            <a:lvl6pPr algn="l">
              <a:defRPr sz="2550" b="1">
                <a:solidFill>
                  <a:srgbClr val="153E35"/>
                </a:solidFill>
                <a:latin typeface="Helvetica Neue"/>
                <a:ea typeface="Helvetica Neue"/>
                <a:cs typeface="Helvetica Neue"/>
              </a:defRPr>
            </a:lvl6pPr>
            <a:lvl7pPr algn="l">
              <a:defRPr sz="2550" b="1">
                <a:solidFill>
                  <a:srgbClr val="153E35"/>
                </a:solidFill>
                <a:latin typeface="Helvetica Neue"/>
                <a:ea typeface="Helvetica Neue"/>
                <a:cs typeface="Helvetica Neue"/>
              </a:defRPr>
            </a:lvl7pPr>
            <a:lvl8pPr algn="l">
              <a:defRPr sz="2550" b="1">
                <a:solidFill>
                  <a:srgbClr val="153E35"/>
                </a:solidFill>
                <a:latin typeface="Helvetica Neue"/>
                <a:ea typeface="Helvetica Neue"/>
                <a:cs typeface="Helvetica Neue"/>
              </a:defRPr>
            </a:lvl8pPr>
            <a:lvl9pPr algn="l">
              <a:defRPr sz="2550" b="1">
                <a:solidFill>
                  <a:srgbClr val="153E35"/>
                </a:solidFill>
                <a:latin typeface="Helvetica Neue"/>
                <a:ea typeface="Helvetica Neue"/>
                <a:cs typeface="Helvetica Neue"/>
              </a:defRPr>
            </a:lvl9pPr>
          </a:lstStyle>
          <a:p xmlns:a="http://schemas.openxmlformats.org/drawingml/2006/main">
            <a:pPr algn="l">
              <a:defRPr sz="2550" b="1">
                <a:solidFill>
                  <a:srgbClr val="153E35"/>
                </a:solidFill>
                <a:latin typeface="Helvetica Neue"/>
                <a:ea typeface="Helvetica Neue"/>
                <a:cs typeface="Helvetica Neue"/>
              </a:defRPr>
            </a:pPr>
            <a:r>
              <a:rPr sz="2550" b="1">
                <a:solidFill>
                  <a:srgbClr val="153E35"/>
                </a:solidFill>
                <a:latin typeface="Helvetica Neue"/>
                <a:ea typeface="Helvetica Neue"/>
                <a:cs typeface="Helvetica Neue"/>
              </a:rPr>
              <a:t>BTC baseline</a:t>
            </a:r>
          </a:p>
        </p:txBody>
      </p:sp>
      <p:graphicFrame>
        <p:nvGraphicFramePr>
          <p:cNvPr id="7" name="">
            <a:extLst xmlns:a="http://schemas.openxmlformats.org/drawingml/2006/main">
              <a:ext uri="{FF2B5EF4-FFF2-40B4-BE49-F238E27FC236}">
                <a16:creationId xmlns:a16="http://schemas.microsoft.com/office/drawing/2014/main" id="{8E828FD9-FE76-4B9F-96EC-226D81116F60}"/>
              </a:ext>
            </a:extLst>
          </p:cNvPr>
          <p:cNvGraphicFramePr/>
          <p:nvPr/>
        </p:nvGraphicFramePr>
        <p:xfrm>
          <a:off xmlns:a="http://schemas.openxmlformats.org/drawingml/2006/main" x="5334000" y="2238375"/>
          <a:ext xmlns:a="http://schemas.openxmlformats.org/drawingml/2006/main" cx="6248400" cy="2762250"/>
        </p:xfrm>
        <a:graphic xmlns:a="http://schemas.openxmlformats.org/drawingml/2006/main">
          <a:graphicData uri="http://schemas.openxmlformats.org/drawingml/2006/table">
            <a:tbl>
              <a:tblPr/>
              <a:tblGrid>
                <a:gridCol w="3143250"/>
                <a:gridCol w="1495425"/>
                <a:gridCol w="1609725"/>
              </a:tblGrid>
              <a:tr h="552450">
                <a:tc>
                  <a:txBody>
                    <a:bodyPr/>
                    <a:lstStyle/>
                    <a:p>
                      <a:r>
                        <a:rPr sz="1875" b="1">
                          <a:solidFill>
                            <a:srgbClr val="FFFFFF"/>
                          </a:solidFill>
                          <a:latin typeface="Helvetica Neue"/>
                          <a:ea typeface="Helvetica Neue"/>
                          <a:cs typeface="Helvetica Neue"/>
                        </a:rPr>
                        <a:t>Strategy</a:t>
                      </a:r>
                    </a:p>
                  </a:txBody>
                  <a:tcPr marL="114300" marR="114300" marT="95250" marB="95250" anchor="ctr">
                    <a:lnL w="9525">
                      <a:solidFill>
                        <a:srgbClr val="D4D9CF"/>
                      </a:solidFill>
                      <a:prstDash val="solid"/>
                    </a:lnL>
                    <a:lnR w="9525">
                      <a:solidFill>
                        <a:srgbClr val="D4D9CF"/>
                      </a:solidFill>
                      <a:prstDash val="solid"/>
                    </a:lnR>
                    <a:lnT w="9525">
                      <a:solidFill>
                        <a:srgbClr val="D4D9CF"/>
                      </a:solidFill>
                      <a:prstDash val="solid"/>
                    </a:lnT>
                    <a:lnB w="9525">
                      <a:solidFill>
                        <a:srgbClr val="D4D9CF"/>
                      </a:solidFill>
                      <a:prstDash val="solid"/>
                    </a:lnB>
                    <a:solidFill>
                      <a:srgbClr val="153E35"/>
                    </a:solidFill>
                  </a:tcPr>
                </a:tc>
                <a:tc>
                  <a:txBody>
                    <a:bodyPr/>
                    <a:lstStyle/>
                    <a:p>
                      <a:r>
                        <a:rPr sz="1875" b="1">
                          <a:solidFill>
                            <a:srgbClr val="FFFFFF"/>
                          </a:solidFill>
                          <a:latin typeface="Helvetica Neue"/>
                          <a:ea typeface="Helvetica Neue"/>
                          <a:cs typeface="Helvetica Neue"/>
                        </a:rPr>
                        <a:t>Final cash</a:t>
                      </a:r>
                    </a:p>
                  </a:txBody>
                  <a:tcPr marL="114300" marR="114300" marT="95250" marB="95250" anchor="ctr">
                    <a:lnR w="9525">
                      <a:solidFill>
                        <a:srgbClr val="D4D9CF"/>
                      </a:solidFill>
                      <a:prstDash val="solid"/>
                    </a:lnR>
                    <a:lnT w="9525">
                      <a:solidFill>
                        <a:srgbClr val="D4D9CF"/>
                      </a:solidFill>
                      <a:prstDash val="solid"/>
                    </a:lnT>
                    <a:lnB w="9525">
                      <a:solidFill>
                        <a:srgbClr val="D4D9CF"/>
                      </a:solidFill>
                      <a:prstDash val="solid"/>
                    </a:lnB>
                    <a:solidFill>
                      <a:srgbClr val="153E35"/>
                    </a:solidFill>
                  </a:tcPr>
                </a:tc>
                <a:tc>
                  <a:txBody>
                    <a:bodyPr/>
                    <a:lstStyle/>
                    <a:p>
                      <a:r>
                        <a:rPr sz="1875" b="1">
                          <a:solidFill>
                            <a:srgbClr val="FFFFFF"/>
                          </a:solidFill>
                          <a:latin typeface="Helvetica Neue"/>
                          <a:ea typeface="Helvetica Neue"/>
                          <a:cs typeface="Helvetica Neue"/>
                        </a:rPr>
                        <a:t>Budget left</a:t>
                      </a:r>
                    </a:p>
                  </a:txBody>
                  <a:tcPr marL="114300" marR="114300" marT="95250" marB="95250" anchor="ctr">
                    <a:lnR w="9525">
                      <a:solidFill>
                        <a:srgbClr val="D4D9CF"/>
                      </a:solidFill>
                      <a:prstDash val="solid"/>
                    </a:lnR>
                    <a:lnT w="9525">
                      <a:solidFill>
                        <a:srgbClr val="D4D9CF"/>
                      </a:solidFill>
                      <a:prstDash val="solid"/>
                    </a:lnT>
                    <a:lnB w="9525">
                      <a:solidFill>
                        <a:srgbClr val="D4D9CF"/>
                      </a:solidFill>
                      <a:prstDash val="solid"/>
                    </a:lnB>
                    <a:solidFill>
                      <a:srgbClr val="153E35"/>
                    </a:solidFill>
                  </a:tcPr>
                </a:tc>
              </a:tr>
              <a:tr h="552450">
                <a:tc>
                  <a:txBody>
                    <a:bodyPr/>
                    <a:lstStyle/>
                    <a:p>
                      <a:r>
                        <a:rPr sz="1875">
                          <a:solidFill>
                            <a:srgbClr val="153E35"/>
                          </a:solidFill>
                          <a:latin typeface="Helvetica Neue"/>
                          <a:ea typeface="Helvetica Neue"/>
                          <a:cs typeface="Helvetica Neue"/>
                        </a:rPr>
                        <a:t>30-step planner</a:t>
                      </a:r>
                    </a:p>
                  </a:txBody>
                  <a:tcPr marL="114300" marR="114300" marT="95250" marB="95250" anchor="ctr">
                    <a:lnL w="9525">
                      <a:solidFill>
                        <a:srgbClr val="D4D9CF"/>
                      </a:solidFill>
                      <a:prstDash val="solid"/>
                    </a:lnL>
                    <a:lnR w="9525">
                      <a:solidFill>
                        <a:srgbClr val="D4D9CF"/>
                      </a:solidFill>
                      <a:prstDash val="solid"/>
                    </a:lnR>
                    <a:lnB w="9525">
                      <a:solidFill>
                        <a:srgbClr val="D4D9CF"/>
                      </a:solidFill>
                      <a:prstDash val="solid"/>
                    </a:lnB>
                    <a:solidFill>
                      <a:srgbClr val="F5F2EA"/>
                    </a:solidFill>
                  </a:tcPr>
                </a:tc>
                <a:tc>
                  <a:txBody>
                    <a:bodyPr/>
                    <a:lstStyle/>
                    <a:p>
                      <a:pPr algn="r"/>
                      <a:r>
                        <a:rPr sz="2025">
                          <a:solidFill>
                            <a:srgbClr val="153E35"/>
                          </a:solidFill>
                          <a:latin typeface="Helvetica Neue"/>
                          <a:ea typeface="Helvetica Neue"/>
                          <a:cs typeface="Helvetica Neue"/>
                        </a:rPr>
                        <a:t>100.00</a:t>
                      </a:r>
                    </a:p>
                  </a:txBody>
                  <a:tcPr marL="114300" marR="114300" marT="95250" marB="95250" anchor="ctr">
                    <a:lnR w="9525">
                      <a:solidFill>
                        <a:srgbClr val="D4D9CF"/>
                      </a:solidFill>
                      <a:prstDash val="solid"/>
                    </a:lnR>
                    <a:lnB w="9525">
                      <a:solidFill>
                        <a:srgbClr val="D4D9CF"/>
                      </a:solidFill>
                      <a:prstDash val="solid"/>
                    </a:lnB>
                    <a:solidFill>
                      <a:srgbClr val="F5F2EA"/>
                    </a:solidFill>
                  </a:tcPr>
                </a:tc>
                <a:tc>
                  <a:txBody>
                    <a:bodyPr/>
                    <a:lstStyle/>
                    <a:p>
                      <a:pPr algn="r"/>
                      <a:r>
                        <a:rPr sz="2025">
                          <a:solidFill>
                            <a:srgbClr val="153E35"/>
                          </a:solidFill>
                          <a:latin typeface="Helvetica Neue"/>
                          <a:ea typeface="Helvetica Neue"/>
                          <a:cs typeface="Helvetica Neue"/>
                        </a:rPr>
                        <a:t>90.00</a:t>
                      </a:r>
                    </a:p>
                  </a:txBody>
                  <a:tcPr marL="114300" marR="114300" marT="95250" marB="95250" anchor="ctr">
                    <a:lnR w="9525">
                      <a:solidFill>
                        <a:srgbClr val="D4D9CF"/>
                      </a:solidFill>
                      <a:prstDash val="solid"/>
                    </a:lnR>
                    <a:lnB w="9525">
                      <a:solidFill>
                        <a:srgbClr val="D4D9CF"/>
                      </a:solidFill>
                      <a:prstDash val="solid"/>
                    </a:lnB>
                    <a:solidFill>
                      <a:srgbClr val="F5F2EA"/>
                    </a:solidFill>
                  </a:tcPr>
                </a:tc>
              </a:tr>
              <a:tr h="552450">
                <a:tc>
                  <a:txBody>
                    <a:bodyPr/>
                    <a:lstStyle/>
                    <a:p>
                      <a:r>
                        <a:rPr sz="1875">
                          <a:solidFill>
                            <a:srgbClr val="153E35"/>
                          </a:solidFill>
                          <a:latin typeface="Helvetica Neue"/>
                          <a:ea typeface="Helvetica Neue"/>
                          <a:cs typeface="Helvetica Neue"/>
                        </a:rPr>
                        <a:t>2-step planner</a:t>
                      </a:r>
                    </a:p>
                  </a:txBody>
                  <a:tcPr marL="114300" marR="114300" marT="95250" marB="95250" anchor="ctr">
                    <a:lnL w="9525">
                      <a:solidFill>
                        <a:srgbClr val="D4D9CF"/>
                      </a:solidFill>
                      <a:prstDash val="solid"/>
                    </a:lnL>
                    <a:lnR w="9525">
                      <a:solidFill>
                        <a:srgbClr val="D4D9CF"/>
                      </a:solidFill>
                      <a:prstDash val="solid"/>
                    </a:lnR>
                    <a:lnB w="9525">
                      <a:solidFill>
                        <a:srgbClr val="D4D9CF"/>
                      </a:solidFill>
                      <a:prstDash val="solid"/>
                    </a:lnB>
                    <a:solidFill>
                      <a:srgbClr val="F5F2EA"/>
                    </a:solidFill>
                  </a:tcPr>
                </a:tc>
                <a:tc>
                  <a:txBody>
                    <a:bodyPr/>
                    <a:lstStyle/>
                    <a:p>
                      <a:pPr algn="r"/>
                      <a:r>
                        <a:rPr sz="2025">
                          <a:solidFill>
                            <a:srgbClr val="153E35"/>
                          </a:solidFill>
                          <a:latin typeface="Helvetica Neue"/>
                          <a:ea typeface="Helvetica Neue"/>
                          <a:cs typeface="Helvetica Neue"/>
                        </a:rPr>
                        <a:t>100.00</a:t>
                      </a:r>
                    </a:p>
                  </a:txBody>
                  <a:tcPr marL="114300" marR="114300" marT="95250" marB="95250" anchor="ctr">
                    <a:lnR w="9525">
                      <a:solidFill>
                        <a:srgbClr val="D4D9CF"/>
                      </a:solidFill>
                      <a:prstDash val="solid"/>
                    </a:lnR>
                    <a:lnB w="9525">
                      <a:solidFill>
                        <a:srgbClr val="D4D9CF"/>
                      </a:solidFill>
                      <a:prstDash val="solid"/>
                    </a:lnB>
                    <a:solidFill>
                      <a:srgbClr val="F5F2EA"/>
                    </a:solidFill>
                  </a:tcPr>
                </a:tc>
                <a:tc>
                  <a:txBody>
                    <a:bodyPr/>
                    <a:lstStyle/>
                    <a:p>
                      <a:pPr algn="r"/>
                      <a:r>
                        <a:rPr sz="2025">
                          <a:solidFill>
                            <a:srgbClr val="153E35"/>
                          </a:solidFill>
                          <a:latin typeface="Helvetica Neue"/>
                          <a:ea typeface="Helvetica Neue"/>
                          <a:cs typeface="Helvetica Neue"/>
                        </a:rPr>
                        <a:t>90.00</a:t>
                      </a:r>
                    </a:p>
                  </a:txBody>
                  <a:tcPr marL="114300" marR="114300" marT="95250" marB="95250" anchor="ctr">
                    <a:lnR w="9525">
                      <a:solidFill>
                        <a:srgbClr val="D4D9CF"/>
                      </a:solidFill>
                      <a:prstDash val="solid"/>
                    </a:lnR>
                    <a:lnB w="9525">
                      <a:solidFill>
                        <a:srgbClr val="D4D9CF"/>
                      </a:solidFill>
                      <a:prstDash val="solid"/>
                    </a:lnB>
                    <a:solidFill>
                      <a:srgbClr val="F5F2EA"/>
                    </a:solidFill>
                  </a:tcPr>
                </a:tc>
              </a:tr>
              <a:tr h="552450">
                <a:tc>
                  <a:txBody>
                    <a:bodyPr/>
                    <a:lstStyle/>
                    <a:p>
                      <a:r>
                        <a:rPr sz="1875">
                          <a:solidFill>
                            <a:srgbClr val="153E35"/>
                          </a:solidFill>
                          <a:latin typeface="Helvetica Neue"/>
                          <a:ea typeface="Helvetica Neue"/>
                          <a:cs typeface="Helvetica Neue"/>
                        </a:rPr>
                        <a:t>EMA with a budget</a:t>
                      </a:r>
                    </a:p>
                  </a:txBody>
                  <a:tcPr marL="114300" marR="114300" marT="95250" marB="95250" anchor="ctr">
                    <a:lnL w="9525">
                      <a:solidFill>
                        <a:srgbClr val="D4D9CF"/>
                      </a:solidFill>
                      <a:prstDash val="solid"/>
                    </a:lnL>
                    <a:lnR w="9525">
                      <a:solidFill>
                        <a:srgbClr val="D4D9CF"/>
                      </a:solidFill>
                      <a:prstDash val="solid"/>
                    </a:lnR>
                    <a:lnB w="9525">
                      <a:solidFill>
                        <a:srgbClr val="D4D9CF"/>
                      </a:solidFill>
                      <a:prstDash val="solid"/>
                    </a:lnB>
                    <a:solidFill>
                      <a:srgbClr val="F5F2EA"/>
                    </a:solidFill>
                  </a:tcPr>
                </a:tc>
                <a:tc>
                  <a:txBody>
                    <a:bodyPr/>
                    <a:lstStyle/>
                    <a:p>
                      <a:pPr algn="r"/>
                      <a:r>
                        <a:rPr sz="2025">
                          <a:solidFill>
                            <a:srgbClr val="153E35"/>
                          </a:solidFill>
                          <a:latin typeface="Helvetica Neue"/>
                          <a:ea typeface="Helvetica Neue"/>
                          <a:cs typeface="Helvetica Neue"/>
                        </a:rPr>
                        <a:t>100.09</a:t>
                      </a:r>
                    </a:p>
                  </a:txBody>
                  <a:tcPr marL="114300" marR="114300" marT="95250" marB="95250" anchor="ctr">
                    <a:lnR w="9525">
                      <a:solidFill>
                        <a:srgbClr val="D4D9CF"/>
                      </a:solidFill>
                      <a:prstDash val="solid"/>
                    </a:lnR>
                    <a:lnB w="9525">
                      <a:solidFill>
                        <a:srgbClr val="D4D9CF"/>
                      </a:solidFill>
                      <a:prstDash val="solid"/>
                    </a:lnB>
                    <a:solidFill>
                      <a:srgbClr val="F5F2EA"/>
                    </a:solidFill>
                  </a:tcPr>
                </a:tc>
                <a:tc>
                  <a:txBody>
                    <a:bodyPr/>
                    <a:lstStyle/>
                    <a:p>
                      <a:pPr algn="r"/>
                      <a:r>
                        <a:rPr sz="2025">
                          <a:solidFill>
                            <a:srgbClr val="153E35"/>
                          </a:solidFill>
                          <a:latin typeface="Helvetica Neue"/>
                          <a:ea typeface="Helvetica Neue"/>
                          <a:cs typeface="Helvetica Neue"/>
                        </a:rPr>
                        <a:t>5.00</a:t>
                      </a:r>
                    </a:p>
                  </a:txBody>
                  <a:tcPr marL="114300" marR="114300" marT="95250" marB="95250" anchor="ctr">
                    <a:lnR w="9525">
                      <a:solidFill>
                        <a:srgbClr val="D4D9CF"/>
                      </a:solidFill>
                      <a:prstDash val="solid"/>
                    </a:lnR>
                    <a:lnB w="9525">
                      <a:solidFill>
                        <a:srgbClr val="D4D9CF"/>
                      </a:solidFill>
                      <a:prstDash val="solid"/>
                    </a:lnB>
                    <a:solidFill>
                      <a:srgbClr val="F5F2EA"/>
                    </a:solidFill>
                  </a:tcPr>
                </a:tc>
              </a:tr>
              <a:tr h="552450">
                <a:tc>
                  <a:txBody>
                    <a:bodyPr/>
                    <a:lstStyle/>
                    <a:p>
                      <a:r>
                        <a:rPr sz="1875">
                          <a:solidFill>
                            <a:srgbClr val="153E35"/>
                          </a:solidFill>
                          <a:latin typeface="Helvetica Neue"/>
                          <a:ea typeface="Helvetica Neue"/>
                          <a:cs typeface="Helvetica Neue"/>
                        </a:rPr>
                        <a:t>EMA buying packs</a:t>
                      </a:r>
                    </a:p>
                  </a:txBody>
                  <a:tcPr marL="114300" marR="114300" marT="95250" marB="95250" anchor="ctr">
                    <a:lnL w="9525">
                      <a:solidFill>
                        <a:srgbClr val="D4D9CF"/>
                      </a:solidFill>
                      <a:prstDash val="solid"/>
                    </a:lnL>
                    <a:lnR w="9525">
                      <a:solidFill>
                        <a:srgbClr val="D4D9CF"/>
                      </a:solidFill>
                      <a:prstDash val="solid"/>
                    </a:lnR>
                    <a:lnB w="9525">
                      <a:solidFill>
                        <a:srgbClr val="D4D9CF"/>
                      </a:solidFill>
                      <a:prstDash val="solid"/>
                    </a:lnB>
                    <a:solidFill>
                      <a:srgbClr val="F5F2EA"/>
                    </a:solidFill>
                  </a:tcPr>
                </a:tc>
                <a:tc>
                  <a:txBody>
                    <a:bodyPr/>
                    <a:lstStyle/>
                    <a:p>
                      <a:pPr algn="r"/>
                      <a:r>
                        <a:rPr sz="2025">
                          <a:solidFill>
                            <a:srgbClr val="153E35"/>
                          </a:solidFill>
                          <a:latin typeface="Helvetica Neue"/>
                          <a:ea typeface="Helvetica Neue"/>
                          <a:cs typeface="Helvetica Neue"/>
                        </a:rPr>
                        <a:t>85.34</a:t>
                      </a:r>
                    </a:p>
                  </a:txBody>
                  <a:tcPr marL="114300" marR="114300" marT="95250" marB="95250" anchor="ctr">
                    <a:lnR w="9525">
                      <a:solidFill>
                        <a:srgbClr val="D4D9CF"/>
                      </a:solidFill>
                      <a:prstDash val="solid"/>
                    </a:lnR>
                    <a:lnB w="9525">
                      <a:solidFill>
                        <a:srgbClr val="D4D9CF"/>
                      </a:solidFill>
                      <a:prstDash val="solid"/>
                    </a:lnB>
                    <a:solidFill>
                      <a:srgbClr val="F5F2EA"/>
                    </a:solidFill>
                  </a:tcPr>
                </a:tc>
                <a:tc>
                  <a:txBody>
                    <a:bodyPr/>
                    <a:lstStyle/>
                    <a:p>
                      <a:pPr algn="r"/>
                      <a:r>
                        <a:rPr sz="2025">
                          <a:solidFill>
                            <a:srgbClr val="153E35"/>
                          </a:solidFill>
                          <a:latin typeface="Helvetica Neue"/>
                          <a:ea typeface="Helvetica Neue"/>
                          <a:cs typeface="Helvetica Neue"/>
                        </a:rPr>
                        <a:t>8.05</a:t>
                      </a:r>
                    </a:p>
                  </a:txBody>
                  <a:tcPr marL="114300" marR="114300" marT="95250" marB="95250" anchor="ctr">
                    <a:lnR w="9525">
                      <a:solidFill>
                        <a:srgbClr val="D4D9CF"/>
                      </a:solidFill>
                      <a:prstDash val="solid"/>
                    </a:lnR>
                    <a:lnB w="9525">
                      <a:solidFill>
                        <a:srgbClr val="D4D9CF"/>
                      </a:solidFill>
                      <a:prstDash val="solid"/>
                    </a:lnB>
                    <a:solidFill>
                      <a:srgbClr val="F5F2EA"/>
                    </a:solidFill>
                  </a:tcPr>
                </a:tc>
              </a:tr>
            </a:tbl>
          </a:graphicData>
        </a:graphic>
      </p:graphicFrame>
      <p:sp>
        <p:nvSpPr>
          <p:cNvPr id="8" name="baseline-assumptions">
            <a:extLst xmlns:a="http://schemas.openxmlformats.org/drawingml/2006/main">
              <a:ext uri="{FF2B5EF4-FFF2-40B4-BE49-F238E27FC236}">
                <a16:creationId xmlns:a16="http://schemas.microsoft.com/office/drawing/2014/main" id="{7AECED40-57E3-408E-BD13-A6FBEEEE9EDE}"/>
              </a:ext>
            </a:extLst>
          </p:cNvPr>
          <p:cNvSpPr>
            <a:spLocks xmlns:a="http://schemas.openxmlformats.org/drawingml/2006/main" noGrp="1"/>
          </p:cNvSpPr>
          <p:nvPr/>
        </p:nvSpPr>
        <p:spPr>
          <a:xfrm xmlns:a="http://schemas.openxmlformats.org/drawingml/2006/main">
            <a:off x="5334000" y="5219700"/>
            <a:ext cx="624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56625C"/>
                </a:solidFill>
                <a:latin typeface="Helvetica Neue"/>
                <a:ea typeface="Helvetica Neue"/>
                <a:cs typeface="Helvetica Neue"/>
              </a:defRPr>
            </a:defPPr>
            <a:lvl1pPr algn="l">
              <a:defRPr sz="1800" b="0">
                <a:solidFill>
                  <a:srgbClr val="56625C"/>
                </a:solidFill>
                <a:latin typeface="Helvetica Neue"/>
                <a:ea typeface="Helvetica Neue"/>
                <a:cs typeface="Helvetica Neue"/>
              </a:defRPr>
            </a:lvl1pPr>
            <a:lvl2pPr algn="l">
              <a:defRPr sz="1800" b="0">
                <a:solidFill>
                  <a:srgbClr val="56625C"/>
                </a:solidFill>
                <a:latin typeface="Helvetica Neue"/>
                <a:ea typeface="Helvetica Neue"/>
                <a:cs typeface="Helvetica Neue"/>
              </a:defRPr>
            </a:lvl2pPr>
            <a:lvl3pPr algn="l">
              <a:defRPr sz="1800" b="0">
                <a:solidFill>
                  <a:srgbClr val="56625C"/>
                </a:solidFill>
                <a:latin typeface="Helvetica Neue"/>
                <a:ea typeface="Helvetica Neue"/>
                <a:cs typeface="Helvetica Neue"/>
              </a:defRPr>
            </a:lvl3pPr>
            <a:lvl4pPr algn="l">
              <a:defRPr sz="1800" b="0">
                <a:solidFill>
                  <a:srgbClr val="56625C"/>
                </a:solidFill>
                <a:latin typeface="Helvetica Neue"/>
                <a:ea typeface="Helvetica Neue"/>
                <a:cs typeface="Helvetica Neue"/>
              </a:defRPr>
            </a:lvl4pPr>
            <a:lvl5pPr algn="l">
              <a:defRPr sz="1800" b="0">
                <a:solidFill>
                  <a:srgbClr val="56625C"/>
                </a:solidFill>
                <a:latin typeface="Helvetica Neue"/>
                <a:ea typeface="Helvetica Neue"/>
                <a:cs typeface="Helvetica Neue"/>
              </a:defRPr>
            </a:lvl5pPr>
            <a:lvl6pPr algn="l">
              <a:defRPr sz="1800" b="0">
                <a:solidFill>
                  <a:srgbClr val="56625C"/>
                </a:solidFill>
                <a:latin typeface="Helvetica Neue"/>
                <a:ea typeface="Helvetica Neue"/>
                <a:cs typeface="Helvetica Neue"/>
              </a:defRPr>
            </a:lvl6pPr>
            <a:lvl7pPr algn="l">
              <a:defRPr sz="1800" b="0">
                <a:solidFill>
                  <a:srgbClr val="56625C"/>
                </a:solidFill>
                <a:latin typeface="Helvetica Neue"/>
                <a:ea typeface="Helvetica Neue"/>
                <a:cs typeface="Helvetica Neue"/>
              </a:defRPr>
            </a:lvl7pPr>
            <a:lvl8pPr algn="l">
              <a:defRPr sz="1800" b="0">
                <a:solidFill>
                  <a:srgbClr val="56625C"/>
                </a:solidFill>
                <a:latin typeface="Helvetica Neue"/>
                <a:ea typeface="Helvetica Neue"/>
                <a:cs typeface="Helvetica Neue"/>
              </a:defRPr>
            </a:lvl8pPr>
            <a:lvl9pPr algn="l">
              <a:defRPr sz="1800" b="0">
                <a:solidFill>
                  <a:srgbClr val="56625C"/>
                </a:solidFill>
                <a:latin typeface="Helvetica Neue"/>
                <a:ea typeface="Helvetica Neue"/>
                <a:cs typeface="Helvetica Neue"/>
              </a:defRPr>
            </a:lvl9pPr>
          </a:lstStyle>
          <a:p xmlns:a="http://schemas.openxmlformats.org/drawingml/2006/main">
            <a:pPr algn="l">
              <a:defRPr sz="1800" b="0">
                <a:solidFill>
                  <a:srgbClr val="56625C"/>
                </a:solidFill>
                <a:latin typeface="Helvetica Neue"/>
                <a:ea typeface="Helvetica Neue"/>
                <a:cs typeface="Helvetica Neue"/>
              </a:defRPr>
            </a:pPr>
            <a:r>
              <a:rPr sz="1800" b="0">
                <a:solidFill>
                  <a:srgbClr val="56625C"/>
                </a:solidFill>
                <a:latin typeface="Helvetica Neue"/>
                <a:ea typeface="Helvetica Neue"/>
                <a:cs typeface="Helvetica Neue"/>
              </a:rPr>
              <a:t>Pack price 8 · α = 0.1 · initial budget 90</a:t>
            </a:r>
          </a:p>
          <a:p xmlns:a="http://schemas.openxmlformats.org/drawingml/2006/main">
            <a:pPr algn="l">
              <a:defRPr sz="1800" b="0">
                <a:solidFill>
                  <a:srgbClr val="56625C"/>
                </a:solidFill>
                <a:latin typeface="Helvetica Neue"/>
                <a:ea typeface="Helvetica Neue"/>
                <a:cs typeface="Helvetica Neue"/>
              </a:defRPr>
            </a:pPr>
            <a:r>
              <a:rPr sz="1800" b="0">
                <a:solidFill>
                  <a:srgbClr val="56625C"/>
                </a:solidFill>
                <a:latin typeface="Helvetica Neue"/>
                <a:ea typeface="Helvetica Neue"/>
                <a:cs typeface="Helvetica Neue"/>
              </a:rPr>
              <a:t>All constrained methods share fees and settlement rules.</a:t>
            </a:r>
          </a:p>
        </p:txBody>
      </p:sp>
      <p:sp>
        <p:nvSpPr>
          <p:cNvPr id="9" name="data-caveat">
            <a:extLst xmlns:a="http://schemas.openxmlformats.org/drawingml/2006/main">
              <a:ext uri="{FF2B5EF4-FFF2-40B4-BE49-F238E27FC236}">
                <a16:creationId xmlns:a16="http://schemas.microsoft.com/office/drawing/2014/main" id="{0E6CD847-EFC9-4AB3-BC58-AE0A75E40141}"/>
              </a:ext>
            </a:extLst>
          </p:cNvPr>
          <p:cNvSpPr>
            <a:spLocks xmlns:a="http://schemas.openxmlformats.org/drawingml/2006/main" noGrp="1"/>
          </p:cNvSpPr>
          <p:nvPr/>
        </p:nvSpPr>
        <p:spPr>
          <a:xfrm xmlns:a="http://schemas.openxmlformats.org/drawingml/2006/main">
            <a:off x="609600" y="60769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6625C"/>
                </a:solidFill>
                <a:latin typeface="Helvetica Neue"/>
                <a:ea typeface="Helvetica Neue"/>
                <a:cs typeface="Helvetica Neue"/>
              </a:defRPr>
            </a:defPPr>
            <a:lvl1pPr algn="l">
              <a:defRPr sz="1725" b="0">
                <a:solidFill>
                  <a:srgbClr val="56625C"/>
                </a:solidFill>
                <a:latin typeface="Helvetica Neue"/>
                <a:ea typeface="Helvetica Neue"/>
                <a:cs typeface="Helvetica Neue"/>
              </a:defRPr>
            </a:lvl1pPr>
            <a:lvl2pPr algn="l">
              <a:defRPr sz="1725" b="0">
                <a:solidFill>
                  <a:srgbClr val="56625C"/>
                </a:solidFill>
                <a:latin typeface="Helvetica Neue"/>
                <a:ea typeface="Helvetica Neue"/>
                <a:cs typeface="Helvetica Neue"/>
              </a:defRPr>
            </a:lvl2pPr>
            <a:lvl3pPr algn="l">
              <a:defRPr sz="1725" b="0">
                <a:solidFill>
                  <a:srgbClr val="56625C"/>
                </a:solidFill>
                <a:latin typeface="Helvetica Neue"/>
                <a:ea typeface="Helvetica Neue"/>
                <a:cs typeface="Helvetica Neue"/>
              </a:defRPr>
            </a:lvl3pPr>
            <a:lvl4pPr algn="l">
              <a:defRPr sz="1725" b="0">
                <a:solidFill>
                  <a:srgbClr val="56625C"/>
                </a:solidFill>
                <a:latin typeface="Helvetica Neue"/>
                <a:ea typeface="Helvetica Neue"/>
                <a:cs typeface="Helvetica Neue"/>
              </a:defRPr>
            </a:lvl4pPr>
            <a:lvl5pPr algn="l">
              <a:defRPr sz="1725" b="0">
                <a:solidFill>
                  <a:srgbClr val="56625C"/>
                </a:solidFill>
                <a:latin typeface="Helvetica Neue"/>
                <a:ea typeface="Helvetica Neue"/>
                <a:cs typeface="Helvetica Neue"/>
              </a:defRPr>
            </a:lvl5pPr>
            <a:lvl6pPr algn="l">
              <a:defRPr sz="1725" b="0">
                <a:solidFill>
                  <a:srgbClr val="56625C"/>
                </a:solidFill>
                <a:latin typeface="Helvetica Neue"/>
                <a:ea typeface="Helvetica Neue"/>
                <a:cs typeface="Helvetica Neue"/>
              </a:defRPr>
            </a:lvl6pPr>
            <a:lvl7pPr algn="l">
              <a:defRPr sz="1725" b="0">
                <a:solidFill>
                  <a:srgbClr val="56625C"/>
                </a:solidFill>
                <a:latin typeface="Helvetica Neue"/>
                <a:ea typeface="Helvetica Neue"/>
                <a:cs typeface="Helvetica Neue"/>
              </a:defRPr>
            </a:lvl7pPr>
            <a:lvl8pPr algn="l">
              <a:defRPr sz="1725" b="0">
                <a:solidFill>
                  <a:srgbClr val="56625C"/>
                </a:solidFill>
                <a:latin typeface="Helvetica Neue"/>
                <a:ea typeface="Helvetica Neue"/>
                <a:cs typeface="Helvetica Neue"/>
              </a:defRPr>
            </a:lvl8pPr>
            <a:lvl9pPr algn="l">
              <a:defRPr sz="1725" b="0">
                <a:solidFill>
                  <a:srgbClr val="56625C"/>
                </a:solidFill>
                <a:latin typeface="Helvetica Neue"/>
                <a:ea typeface="Helvetica Neue"/>
                <a:cs typeface="Helvetica Neue"/>
              </a:defRPr>
            </a:lvl9pPr>
          </a:lstStyle>
          <a:p xmlns:a="http://schemas.openxmlformats.org/drawingml/2006/main">
            <a:pPr algn="l">
              <a:defRPr sz="1725" b="0">
                <a:solidFill>
                  <a:srgbClr val="56625C"/>
                </a:solidFill>
                <a:latin typeface="Helvetica Neue"/>
                <a:ea typeface="Helvetica Neue"/>
                <a:cs typeface="Helvetica Neue"/>
              </a:defRPr>
            </a:pPr>
            <a:r>
              <a:rPr sz="1725" b="0">
                <a:solidFill>
                  <a:srgbClr val="56625C"/>
                </a:solidFill>
                <a:latin typeface="Helvetica Neue"/>
                <a:ea typeface="Helvetica Neue"/>
                <a:cs typeface="Helvetica Neue"/>
              </a:rPr>
              <a:t>Means across 213 overlapping starts per asset. We had already inspected 2026 data;</a:t>
            </a:r>
          </a:p>
          <a:p xmlns:a="http://schemas.openxmlformats.org/drawingml/2006/main">
            <a:pPr algn="l">
              <a:defRPr sz="1725" b="0">
                <a:solidFill>
                  <a:srgbClr val="56625C"/>
                </a:solidFill>
                <a:latin typeface="Helvetica Neue"/>
                <a:ea typeface="Helvetica Neue"/>
                <a:cs typeface="Helvetica Neue"/>
              </a:defRPr>
            </a:pPr>
            <a:r>
              <a:rPr sz="1725" b="0">
                <a:solidFill>
                  <a:srgbClr val="56625C"/>
                </a:solidFill>
                <a:latin typeface="Helvetica Neue"/>
                <a:ea typeface="Helvetica Neue"/>
                <a:cs typeface="Helvetica Neue"/>
              </a:rPr>
              <a:t>this is historical re-evaluation, not a blind test.</a:t>
            </a:r>
          </a:p>
        </p:txBody>
      </p:sp>
    </p:spTree>
    <p:extLst>
      <p:ext uri="{BB962C8B-B14F-4D97-AF65-F5344CB8AC3E}">
        <p14:creationId xmlns:p14="http://schemas.microsoft.com/office/powerpoint/2010/main" val="2014145426"/>
      </p:ext>
    </p:extLst>
  </p:cSld>
</p:sld>
</file>

<file path=ppt/slides/slide4.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910B81CB-C516-4FAE-8F44-FD88E372B7F7}"/>
              </a:ext>
            </a:extLst>
          </p:cNvPr>
          <p:cNvSpPr>
            <a:spLocks xmlns:a="http://schemas.openxmlformats.org/drawingml/2006/main" noGrp="1"/>
          </p:cNvSpPr>
          <p:nvPr/>
        </p:nvSpPr>
        <p:spPr>
          <a:xfrm xmlns:a="http://schemas.openxmlformats.org/drawingml/2006/main">
            <a:off x="609600" y="4572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53E35"/>
                </a:solidFill>
                <a:latin typeface="Helvetica Neue"/>
                <a:ea typeface="Helvetica Neue"/>
                <a:cs typeface="Helvetica Neue"/>
              </a:defRPr>
            </a:defPPr>
            <a:lvl1pPr algn="l">
              <a:defRPr sz="3450" b="1">
                <a:solidFill>
                  <a:srgbClr val="153E35"/>
                </a:solidFill>
                <a:latin typeface="Helvetica Neue"/>
                <a:ea typeface="Helvetica Neue"/>
                <a:cs typeface="Helvetica Neue"/>
              </a:defRPr>
            </a:lvl1pPr>
            <a:lvl2pPr algn="l">
              <a:defRPr sz="3450" b="1">
                <a:solidFill>
                  <a:srgbClr val="153E35"/>
                </a:solidFill>
                <a:latin typeface="Helvetica Neue"/>
                <a:ea typeface="Helvetica Neue"/>
                <a:cs typeface="Helvetica Neue"/>
              </a:defRPr>
            </a:lvl2pPr>
            <a:lvl3pPr algn="l">
              <a:defRPr sz="3450" b="1">
                <a:solidFill>
                  <a:srgbClr val="153E35"/>
                </a:solidFill>
                <a:latin typeface="Helvetica Neue"/>
                <a:ea typeface="Helvetica Neue"/>
                <a:cs typeface="Helvetica Neue"/>
              </a:defRPr>
            </a:lvl3pPr>
            <a:lvl4pPr algn="l">
              <a:defRPr sz="3450" b="1">
                <a:solidFill>
                  <a:srgbClr val="153E35"/>
                </a:solidFill>
                <a:latin typeface="Helvetica Neue"/>
                <a:ea typeface="Helvetica Neue"/>
                <a:cs typeface="Helvetica Neue"/>
              </a:defRPr>
            </a:lvl4pPr>
            <a:lvl5pPr algn="l">
              <a:defRPr sz="3450" b="1">
                <a:solidFill>
                  <a:srgbClr val="153E35"/>
                </a:solidFill>
                <a:latin typeface="Helvetica Neue"/>
                <a:ea typeface="Helvetica Neue"/>
                <a:cs typeface="Helvetica Neue"/>
              </a:defRPr>
            </a:lvl5pPr>
            <a:lvl6pPr algn="l">
              <a:defRPr sz="3450" b="1">
                <a:solidFill>
                  <a:srgbClr val="153E35"/>
                </a:solidFill>
                <a:latin typeface="Helvetica Neue"/>
                <a:ea typeface="Helvetica Neue"/>
                <a:cs typeface="Helvetica Neue"/>
              </a:defRPr>
            </a:lvl6pPr>
            <a:lvl7pPr algn="l">
              <a:defRPr sz="3450" b="1">
                <a:solidFill>
                  <a:srgbClr val="153E35"/>
                </a:solidFill>
                <a:latin typeface="Helvetica Neue"/>
                <a:ea typeface="Helvetica Neue"/>
                <a:cs typeface="Helvetica Neue"/>
              </a:defRPr>
            </a:lvl7pPr>
            <a:lvl8pPr algn="l">
              <a:defRPr sz="3450" b="1">
                <a:solidFill>
                  <a:srgbClr val="153E35"/>
                </a:solidFill>
                <a:latin typeface="Helvetica Neue"/>
                <a:ea typeface="Helvetica Neue"/>
                <a:cs typeface="Helvetica Neue"/>
              </a:defRPr>
            </a:lvl8pPr>
            <a:lvl9pPr algn="l">
              <a:defRPr sz="3450" b="1">
                <a:solidFill>
                  <a:srgbClr val="153E35"/>
                </a:solidFill>
                <a:latin typeface="Helvetica Neue"/>
                <a:ea typeface="Helvetica Neue"/>
                <a:cs typeface="Helvetica Neue"/>
              </a:defRPr>
            </a:lvl9pPr>
          </a:lstStyle>
          <a:p xmlns:a="http://schemas.openxmlformats.org/drawingml/2006/main">
            <a:pPr algn="l">
              <a:defRPr sz="3450" b="1">
                <a:solidFill>
                  <a:srgbClr val="153E35"/>
                </a:solidFill>
                <a:latin typeface="Helvetica Neue"/>
                <a:ea typeface="Helvetica Neue"/>
                <a:cs typeface="Helvetica Neue"/>
              </a:defRPr>
            </a:pPr>
            <a:r>
              <a:rPr sz="3450" b="1">
                <a:solidFill>
                  <a:srgbClr val="153E35"/>
                </a:solidFill>
                <a:latin typeface="Helvetica Neue"/>
                <a:ea typeface="Helvetica Neue"/>
                <a:cs typeface="Helvetica Neue"/>
              </a:rPr>
              <a:t>A longer horizon can change the action</a:t>
            </a:r>
          </a:p>
        </p:txBody>
      </p:sp>
      <p:sp>
        <p:nvSpPr>
          <p:cNvPr id="2" name="changed-state">
            <a:extLst xmlns:a="http://schemas.openxmlformats.org/drawingml/2006/main">
              <a:ext uri="{FF2B5EF4-FFF2-40B4-BE49-F238E27FC236}">
                <a16:creationId xmlns:a16="http://schemas.microsoft.com/office/drawing/2014/main" id="{08F73FE0-D3F2-46E7-9DE8-4E4E845B82BE}"/>
              </a:ext>
            </a:extLst>
          </p:cNvPr>
          <p:cNvSpPr>
            <a:spLocks xmlns:a="http://schemas.openxmlformats.org/drawingml/2006/main" noGrp="1"/>
          </p:cNvSpPr>
          <p:nvPr/>
        </p:nvSpPr>
        <p:spPr>
          <a:xfrm xmlns:a="http://schemas.openxmlformats.org/drawingml/2006/main">
            <a:off x="609600" y="1362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56625C"/>
                </a:solidFill>
                <a:latin typeface="Helvetica Neue"/>
                <a:ea typeface="Helvetica Neue"/>
                <a:cs typeface="Helvetica Neue"/>
              </a:defRPr>
            </a:defPPr>
            <a:lvl1pPr algn="l">
              <a:defRPr sz="2025" b="0">
                <a:solidFill>
                  <a:srgbClr val="56625C"/>
                </a:solidFill>
                <a:latin typeface="Helvetica Neue"/>
                <a:ea typeface="Helvetica Neue"/>
                <a:cs typeface="Helvetica Neue"/>
              </a:defRPr>
            </a:lvl1pPr>
            <a:lvl2pPr algn="l">
              <a:defRPr sz="2025" b="0">
                <a:solidFill>
                  <a:srgbClr val="56625C"/>
                </a:solidFill>
                <a:latin typeface="Helvetica Neue"/>
                <a:ea typeface="Helvetica Neue"/>
                <a:cs typeface="Helvetica Neue"/>
              </a:defRPr>
            </a:lvl2pPr>
            <a:lvl3pPr algn="l">
              <a:defRPr sz="2025" b="0">
                <a:solidFill>
                  <a:srgbClr val="56625C"/>
                </a:solidFill>
                <a:latin typeface="Helvetica Neue"/>
                <a:ea typeface="Helvetica Neue"/>
                <a:cs typeface="Helvetica Neue"/>
              </a:defRPr>
            </a:lvl3pPr>
            <a:lvl4pPr algn="l">
              <a:defRPr sz="2025" b="0">
                <a:solidFill>
                  <a:srgbClr val="56625C"/>
                </a:solidFill>
                <a:latin typeface="Helvetica Neue"/>
                <a:ea typeface="Helvetica Neue"/>
                <a:cs typeface="Helvetica Neue"/>
              </a:defRPr>
            </a:lvl4pPr>
            <a:lvl5pPr algn="l">
              <a:defRPr sz="2025" b="0">
                <a:solidFill>
                  <a:srgbClr val="56625C"/>
                </a:solidFill>
                <a:latin typeface="Helvetica Neue"/>
                <a:ea typeface="Helvetica Neue"/>
                <a:cs typeface="Helvetica Neue"/>
              </a:defRPr>
            </a:lvl5pPr>
            <a:lvl6pPr algn="l">
              <a:defRPr sz="2025" b="0">
                <a:solidFill>
                  <a:srgbClr val="56625C"/>
                </a:solidFill>
                <a:latin typeface="Helvetica Neue"/>
                <a:ea typeface="Helvetica Neue"/>
                <a:cs typeface="Helvetica Neue"/>
              </a:defRPr>
            </a:lvl6pPr>
            <a:lvl7pPr algn="l">
              <a:defRPr sz="2025" b="0">
                <a:solidFill>
                  <a:srgbClr val="56625C"/>
                </a:solidFill>
                <a:latin typeface="Helvetica Neue"/>
                <a:ea typeface="Helvetica Neue"/>
                <a:cs typeface="Helvetica Neue"/>
              </a:defRPr>
            </a:lvl7pPr>
            <a:lvl8pPr algn="l">
              <a:defRPr sz="2025" b="0">
                <a:solidFill>
                  <a:srgbClr val="56625C"/>
                </a:solidFill>
                <a:latin typeface="Helvetica Neue"/>
                <a:ea typeface="Helvetica Neue"/>
                <a:cs typeface="Helvetica Neue"/>
              </a:defRPr>
            </a:lvl8pPr>
            <a:lvl9pPr algn="l">
              <a:defRPr sz="2025" b="0">
                <a:solidFill>
                  <a:srgbClr val="56625C"/>
                </a:solidFill>
                <a:latin typeface="Helvetica Neue"/>
                <a:ea typeface="Helvetica Neue"/>
                <a:cs typeface="Helvetica Neue"/>
              </a:defRPr>
            </a:lvl9pPr>
          </a:lstStyle>
          <a:p xmlns:a="http://schemas.openxmlformats.org/drawingml/2006/main">
            <a:pPr algn="l">
              <a:defRPr sz="2025" b="0">
                <a:solidFill>
                  <a:srgbClr val="56625C"/>
                </a:solidFill>
                <a:latin typeface="Helvetica Neue"/>
                <a:ea typeface="Helvetica Neue"/>
                <a:cs typeface="Helvetica Neue"/>
              </a:defRPr>
            </a:pPr>
            <a:r>
              <a:rPr sz="2025" b="0">
                <a:solidFill>
                  <a:srgbClr val="56625C"/>
                </a:solidFill>
                <a:latin typeface="Helvetica Neue"/>
                <a:ea typeface="Helvetica Neue"/>
                <a:cs typeface="Helvetica Neue"/>
              </a:rPr>
              <a:t>Same 100 cash · falling / volatile market · pack price 8 · α = 0.02</a:t>
            </a:r>
          </a:p>
        </p:txBody>
      </p:sp>
      <p:graphicFrame>
        <p:nvGraphicFramePr>
          <p:cNvPr id="3" name="Chart">
            <a:extLst xmlns:a="http://schemas.openxmlformats.org/drawingml/2006/main">
              <a:ext uri="{FF2B5EF4-FFF2-40B4-BE49-F238E27FC236}">
                <a16:creationId xmlns:a16="http://schemas.microsoft.com/office/drawing/2014/main" id="{BFF9C75D-74EA-4335-A230-4FE9B6219126}"/>
              </a:ext>
            </a:extLst>
          </p:cNvPr>
          <p:cNvGraphicFramePr/>
          <p:nvPr/>
        </p:nvGraphicFramePr>
        <p:xfrm>
          <a:off xmlns:a="http://schemas.openxmlformats.org/drawingml/2006/main" x="514350" y="2057400"/>
          <a:ext xmlns:a="http://schemas.openxmlformats.org/drawingml/2006/main" cx="7086600" cy="3200400"/>
        </p:xfrm>
        <a:graphic xmlns:a="http://schemas.openxmlformats.org/drawingml/2006/main">
          <a:graphicData uri="http://schemas.openxmlformats.org/drawingml/2006/chart">
            <c:chart xmlns:r="http://schemas.openxmlformats.org/officeDocument/2006/relationships" xmlns:c="http://schemas.openxmlformats.org/drawingml/2006/chart" r:id="Rf5d1b4d2c82245c6"/>
          </a:graphicData>
        </a:graphic>
      </p:graphicFrame>
      <p:sp>
        <p:nvSpPr>
          <p:cNvPr id="4" name="changed-budget">
            <a:extLst xmlns:a="http://schemas.openxmlformats.org/drawingml/2006/main">
              <a:ext uri="{FF2B5EF4-FFF2-40B4-BE49-F238E27FC236}">
                <a16:creationId xmlns:a16="http://schemas.microsoft.com/office/drawing/2014/main" id="{703B66F6-4966-4DE3-8401-E164A84829B6}"/>
              </a:ext>
            </a:extLst>
          </p:cNvPr>
          <p:cNvSpPr>
            <a:spLocks xmlns:a="http://schemas.openxmlformats.org/drawingml/2006/main" noGrp="1"/>
          </p:cNvSpPr>
          <p:nvPr/>
        </p:nvSpPr>
        <p:spPr>
          <a:xfrm xmlns:a="http://schemas.openxmlformats.org/drawingml/2006/main">
            <a:off x="8058150" y="2095500"/>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153E35"/>
                </a:solidFill>
                <a:latin typeface="Helvetica Neue"/>
                <a:ea typeface="Helvetica Neue"/>
                <a:cs typeface="Helvetica Neue"/>
              </a:defRPr>
            </a:defPPr>
            <a:lvl1pPr algn="l">
              <a:defRPr sz="2100" b="1">
                <a:solidFill>
                  <a:srgbClr val="153E35"/>
                </a:solidFill>
                <a:latin typeface="Helvetica Neue"/>
                <a:ea typeface="Helvetica Neue"/>
                <a:cs typeface="Helvetica Neue"/>
              </a:defRPr>
            </a:lvl1pPr>
            <a:lvl2pPr algn="l">
              <a:defRPr sz="2100" b="1">
                <a:solidFill>
                  <a:srgbClr val="153E35"/>
                </a:solidFill>
                <a:latin typeface="Helvetica Neue"/>
                <a:ea typeface="Helvetica Neue"/>
                <a:cs typeface="Helvetica Neue"/>
              </a:defRPr>
            </a:lvl2pPr>
            <a:lvl3pPr algn="l">
              <a:defRPr sz="2100" b="1">
                <a:solidFill>
                  <a:srgbClr val="153E35"/>
                </a:solidFill>
                <a:latin typeface="Helvetica Neue"/>
                <a:ea typeface="Helvetica Neue"/>
                <a:cs typeface="Helvetica Neue"/>
              </a:defRPr>
            </a:lvl3pPr>
            <a:lvl4pPr algn="l">
              <a:defRPr sz="2100" b="1">
                <a:solidFill>
                  <a:srgbClr val="153E35"/>
                </a:solidFill>
                <a:latin typeface="Helvetica Neue"/>
                <a:ea typeface="Helvetica Neue"/>
                <a:cs typeface="Helvetica Neue"/>
              </a:defRPr>
            </a:lvl4pPr>
            <a:lvl5pPr algn="l">
              <a:defRPr sz="2100" b="1">
                <a:solidFill>
                  <a:srgbClr val="153E35"/>
                </a:solidFill>
                <a:latin typeface="Helvetica Neue"/>
                <a:ea typeface="Helvetica Neue"/>
                <a:cs typeface="Helvetica Neue"/>
              </a:defRPr>
            </a:lvl5pPr>
            <a:lvl6pPr algn="l">
              <a:defRPr sz="2100" b="1">
                <a:solidFill>
                  <a:srgbClr val="153E35"/>
                </a:solidFill>
                <a:latin typeface="Helvetica Neue"/>
                <a:ea typeface="Helvetica Neue"/>
                <a:cs typeface="Helvetica Neue"/>
              </a:defRPr>
            </a:lvl6pPr>
            <a:lvl7pPr algn="l">
              <a:defRPr sz="2100" b="1">
                <a:solidFill>
                  <a:srgbClr val="153E35"/>
                </a:solidFill>
                <a:latin typeface="Helvetica Neue"/>
                <a:ea typeface="Helvetica Neue"/>
                <a:cs typeface="Helvetica Neue"/>
              </a:defRPr>
            </a:lvl7pPr>
            <a:lvl8pPr algn="l">
              <a:defRPr sz="2100" b="1">
                <a:solidFill>
                  <a:srgbClr val="153E35"/>
                </a:solidFill>
                <a:latin typeface="Helvetica Neue"/>
                <a:ea typeface="Helvetica Neue"/>
                <a:cs typeface="Helvetica Neue"/>
              </a:defRPr>
            </a:lvl8pPr>
            <a:lvl9pPr algn="l">
              <a:defRPr sz="2100" b="1">
                <a:solidFill>
                  <a:srgbClr val="153E35"/>
                </a:solidFill>
                <a:latin typeface="Helvetica Neue"/>
                <a:ea typeface="Helvetica Neue"/>
                <a:cs typeface="Helvetica Neue"/>
              </a:defRPr>
            </a:lvl9pPr>
          </a:lstStyle>
          <a:p xmlns:a="http://schemas.openxmlformats.org/drawingml/2006/main">
            <a:pPr algn="l">
              <a:defRPr sz="2100" b="1">
                <a:solidFill>
                  <a:srgbClr val="153E35"/>
                </a:solidFill>
                <a:latin typeface="Helvetica Neue"/>
                <a:ea typeface="Helvetica Neue"/>
                <a:cs typeface="Helvetica Neue"/>
              </a:defRPr>
            </a:pPr>
            <a:r>
              <a:rPr sz="2100" b="1">
                <a:solidFill>
                  <a:srgbClr val="153E35"/>
                </a:solidFill>
                <a:latin typeface="Helvetica Neue"/>
                <a:ea typeface="Helvetica Neue"/>
                <a:cs typeface="Helvetica Neue"/>
              </a:rPr>
              <a:t>At 45 budget seconds</a:t>
            </a:r>
          </a:p>
        </p:txBody>
      </p:sp>
      <p:sp>
        <p:nvSpPr>
          <p:cNvPr id="5" name="two-step-action">
            <a:extLst xmlns:a="http://schemas.openxmlformats.org/drawingml/2006/main">
              <a:ext uri="{FF2B5EF4-FFF2-40B4-BE49-F238E27FC236}">
                <a16:creationId xmlns:a16="http://schemas.microsoft.com/office/drawing/2014/main" id="{9E5078F6-7D2E-422A-99BF-4ED3E9C8E608}"/>
              </a:ext>
            </a:extLst>
          </p:cNvPr>
          <p:cNvSpPr>
            <a:spLocks xmlns:a="http://schemas.openxmlformats.org/drawingml/2006/main" noGrp="1"/>
          </p:cNvSpPr>
          <p:nvPr/>
        </p:nvSpPr>
        <p:spPr>
          <a:xfrm xmlns:a="http://schemas.openxmlformats.org/drawingml/2006/main">
            <a:off x="8058150" y="2819400"/>
            <a:ext cx="3524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700" b="1">
                <a:solidFill>
                  <a:srgbClr val="A77534"/>
                </a:solidFill>
                <a:latin typeface="Helvetica Neue"/>
                <a:ea typeface="Helvetica Neue"/>
                <a:cs typeface="Helvetica Neue"/>
              </a:defRPr>
            </a:defPPr>
            <a:lvl1pPr algn="l">
              <a:defRPr sz="2700" b="1">
                <a:solidFill>
                  <a:srgbClr val="A77534"/>
                </a:solidFill>
                <a:latin typeface="Helvetica Neue"/>
                <a:ea typeface="Helvetica Neue"/>
                <a:cs typeface="Helvetica Neue"/>
              </a:defRPr>
            </a:lvl1pPr>
            <a:lvl2pPr algn="l">
              <a:defRPr sz="2700" b="1">
                <a:solidFill>
                  <a:srgbClr val="A77534"/>
                </a:solidFill>
                <a:latin typeface="Helvetica Neue"/>
                <a:ea typeface="Helvetica Neue"/>
                <a:cs typeface="Helvetica Neue"/>
              </a:defRPr>
            </a:lvl2pPr>
            <a:lvl3pPr algn="l">
              <a:defRPr sz="2700" b="1">
                <a:solidFill>
                  <a:srgbClr val="A77534"/>
                </a:solidFill>
                <a:latin typeface="Helvetica Neue"/>
                <a:ea typeface="Helvetica Neue"/>
                <a:cs typeface="Helvetica Neue"/>
              </a:defRPr>
            </a:lvl3pPr>
            <a:lvl4pPr algn="l">
              <a:defRPr sz="2700" b="1">
                <a:solidFill>
                  <a:srgbClr val="A77534"/>
                </a:solidFill>
                <a:latin typeface="Helvetica Neue"/>
                <a:ea typeface="Helvetica Neue"/>
                <a:cs typeface="Helvetica Neue"/>
              </a:defRPr>
            </a:lvl4pPr>
            <a:lvl5pPr algn="l">
              <a:defRPr sz="2700" b="1">
                <a:solidFill>
                  <a:srgbClr val="A77534"/>
                </a:solidFill>
                <a:latin typeface="Helvetica Neue"/>
                <a:ea typeface="Helvetica Neue"/>
                <a:cs typeface="Helvetica Neue"/>
              </a:defRPr>
            </a:lvl5pPr>
            <a:lvl6pPr algn="l">
              <a:defRPr sz="2700" b="1">
                <a:solidFill>
                  <a:srgbClr val="A77534"/>
                </a:solidFill>
                <a:latin typeface="Helvetica Neue"/>
                <a:ea typeface="Helvetica Neue"/>
                <a:cs typeface="Helvetica Neue"/>
              </a:defRPr>
            </a:lvl6pPr>
            <a:lvl7pPr algn="l">
              <a:defRPr sz="2700" b="1">
                <a:solidFill>
                  <a:srgbClr val="A77534"/>
                </a:solidFill>
                <a:latin typeface="Helvetica Neue"/>
                <a:ea typeface="Helvetica Neue"/>
                <a:cs typeface="Helvetica Neue"/>
              </a:defRPr>
            </a:lvl7pPr>
            <a:lvl8pPr algn="l">
              <a:defRPr sz="2700" b="1">
                <a:solidFill>
                  <a:srgbClr val="A77534"/>
                </a:solidFill>
                <a:latin typeface="Helvetica Neue"/>
                <a:ea typeface="Helvetica Neue"/>
                <a:cs typeface="Helvetica Neue"/>
              </a:defRPr>
            </a:lvl8pPr>
            <a:lvl9pPr algn="l">
              <a:defRPr sz="2700" b="1">
                <a:solidFill>
                  <a:srgbClr val="A77534"/>
                </a:solidFill>
                <a:latin typeface="Helvetica Neue"/>
                <a:ea typeface="Helvetica Neue"/>
                <a:cs typeface="Helvetica Neue"/>
              </a:defRPr>
            </a:lvl9pPr>
          </a:lstStyle>
          <a:p xmlns:a="http://schemas.openxmlformats.org/drawingml/2006/main">
            <a:pPr algn="l">
              <a:defRPr sz="2700" b="1">
                <a:solidFill>
                  <a:srgbClr val="A77534"/>
                </a:solidFill>
                <a:latin typeface="Helvetica Neue"/>
                <a:ea typeface="Helvetica Neue"/>
                <a:cs typeface="Helvetica Neue"/>
              </a:defRPr>
            </a:pPr>
            <a:r>
              <a:rPr sz="2700" b="1">
                <a:solidFill>
                  <a:srgbClr val="A77534"/>
                </a:solidFill>
                <a:latin typeface="Helvetica Neue"/>
                <a:ea typeface="Helvetica Neue"/>
                <a:cs typeface="Helvetica Neue"/>
              </a:rPr>
              <a:t>2 steps: EXIT</a:t>
            </a:r>
          </a:p>
        </p:txBody>
      </p:sp>
      <p:sp>
        <p:nvSpPr>
          <p:cNvPr id="6" name="two-step-gap">
            <a:extLst xmlns:a="http://schemas.openxmlformats.org/drawingml/2006/main">
              <a:ext uri="{FF2B5EF4-FFF2-40B4-BE49-F238E27FC236}">
                <a16:creationId xmlns:a16="http://schemas.microsoft.com/office/drawing/2014/main" id="{9A7C0365-DF89-4CDE-92A7-6FAE1AAD43EE}"/>
              </a:ext>
            </a:extLst>
          </p:cNvPr>
          <p:cNvSpPr>
            <a:spLocks xmlns:a="http://schemas.openxmlformats.org/drawingml/2006/main" noGrp="1"/>
          </p:cNvSpPr>
          <p:nvPr/>
        </p:nvSpPr>
        <p:spPr>
          <a:xfrm xmlns:a="http://schemas.openxmlformats.org/drawingml/2006/main">
            <a:off x="8058150" y="3362325"/>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56625C"/>
                </a:solidFill>
                <a:latin typeface="Helvetica Neue"/>
                <a:ea typeface="Helvetica Neue"/>
                <a:cs typeface="Helvetica Neue"/>
              </a:defRPr>
            </a:defPPr>
            <a:lvl1pPr algn="l">
              <a:defRPr sz="1800" b="0">
                <a:solidFill>
                  <a:srgbClr val="56625C"/>
                </a:solidFill>
                <a:latin typeface="Helvetica Neue"/>
                <a:ea typeface="Helvetica Neue"/>
                <a:cs typeface="Helvetica Neue"/>
              </a:defRPr>
            </a:lvl1pPr>
            <a:lvl2pPr algn="l">
              <a:defRPr sz="1800" b="0">
                <a:solidFill>
                  <a:srgbClr val="56625C"/>
                </a:solidFill>
                <a:latin typeface="Helvetica Neue"/>
                <a:ea typeface="Helvetica Neue"/>
                <a:cs typeface="Helvetica Neue"/>
              </a:defRPr>
            </a:lvl2pPr>
            <a:lvl3pPr algn="l">
              <a:defRPr sz="1800" b="0">
                <a:solidFill>
                  <a:srgbClr val="56625C"/>
                </a:solidFill>
                <a:latin typeface="Helvetica Neue"/>
                <a:ea typeface="Helvetica Neue"/>
                <a:cs typeface="Helvetica Neue"/>
              </a:defRPr>
            </a:lvl3pPr>
            <a:lvl4pPr algn="l">
              <a:defRPr sz="1800" b="0">
                <a:solidFill>
                  <a:srgbClr val="56625C"/>
                </a:solidFill>
                <a:latin typeface="Helvetica Neue"/>
                <a:ea typeface="Helvetica Neue"/>
                <a:cs typeface="Helvetica Neue"/>
              </a:defRPr>
            </a:lvl4pPr>
            <a:lvl5pPr algn="l">
              <a:defRPr sz="1800" b="0">
                <a:solidFill>
                  <a:srgbClr val="56625C"/>
                </a:solidFill>
                <a:latin typeface="Helvetica Neue"/>
                <a:ea typeface="Helvetica Neue"/>
                <a:cs typeface="Helvetica Neue"/>
              </a:defRPr>
            </a:lvl5pPr>
            <a:lvl6pPr algn="l">
              <a:defRPr sz="1800" b="0">
                <a:solidFill>
                  <a:srgbClr val="56625C"/>
                </a:solidFill>
                <a:latin typeface="Helvetica Neue"/>
                <a:ea typeface="Helvetica Neue"/>
                <a:cs typeface="Helvetica Neue"/>
              </a:defRPr>
            </a:lvl6pPr>
            <a:lvl7pPr algn="l">
              <a:defRPr sz="1800" b="0">
                <a:solidFill>
                  <a:srgbClr val="56625C"/>
                </a:solidFill>
                <a:latin typeface="Helvetica Neue"/>
                <a:ea typeface="Helvetica Neue"/>
                <a:cs typeface="Helvetica Neue"/>
              </a:defRPr>
            </a:lvl7pPr>
            <a:lvl8pPr algn="l">
              <a:defRPr sz="1800" b="0">
                <a:solidFill>
                  <a:srgbClr val="56625C"/>
                </a:solidFill>
                <a:latin typeface="Helvetica Neue"/>
                <a:ea typeface="Helvetica Neue"/>
                <a:cs typeface="Helvetica Neue"/>
              </a:defRPr>
            </a:lvl8pPr>
            <a:lvl9pPr algn="l">
              <a:defRPr sz="1800" b="0">
                <a:solidFill>
                  <a:srgbClr val="56625C"/>
                </a:solidFill>
                <a:latin typeface="Helvetica Neue"/>
                <a:ea typeface="Helvetica Neue"/>
                <a:cs typeface="Helvetica Neue"/>
              </a:defRPr>
            </a:lvl9pPr>
          </a:lstStyle>
          <a:p xmlns:a="http://schemas.openxmlformats.org/drawingml/2006/main">
            <a:pPr algn="l">
              <a:defRPr sz="1800" b="0">
                <a:solidFill>
                  <a:srgbClr val="56625C"/>
                </a:solidFill>
                <a:latin typeface="Helvetica Neue"/>
                <a:ea typeface="Helvetica Neue"/>
                <a:cs typeface="Helvetica Neue"/>
              </a:defRPr>
            </a:pPr>
            <a:r>
              <a:rPr sz="1800" b="0">
                <a:solidFill>
                  <a:srgbClr val="56625C"/>
                </a:solidFill>
                <a:latin typeface="Helvetica Neue"/>
                <a:ea typeface="Helvetica Neue"/>
                <a:cs typeface="Helvetica Neue"/>
              </a:rPr>
              <a:t>Continue − exit: −0.000129</a:t>
            </a:r>
          </a:p>
        </p:txBody>
      </p:sp>
      <p:sp>
        <p:nvSpPr>
          <p:cNvPr id="7" name="full-action">
            <a:extLst xmlns:a="http://schemas.openxmlformats.org/drawingml/2006/main">
              <a:ext uri="{FF2B5EF4-FFF2-40B4-BE49-F238E27FC236}">
                <a16:creationId xmlns:a16="http://schemas.microsoft.com/office/drawing/2014/main" id="{09B6FC91-3EE7-4BC5-81DC-5E5BEFFF4EA9}"/>
              </a:ext>
            </a:extLst>
          </p:cNvPr>
          <p:cNvSpPr>
            <a:spLocks xmlns:a="http://schemas.openxmlformats.org/drawingml/2006/main" noGrp="1"/>
          </p:cNvSpPr>
          <p:nvPr/>
        </p:nvSpPr>
        <p:spPr>
          <a:xfrm xmlns:a="http://schemas.openxmlformats.org/drawingml/2006/main">
            <a:off x="8058150" y="3943350"/>
            <a:ext cx="3524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700" b="1">
                <a:solidFill>
                  <a:srgbClr val="153E35"/>
                </a:solidFill>
                <a:latin typeface="Helvetica Neue"/>
                <a:ea typeface="Helvetica Neue"/>
                <a:cs typeface="Helvetica Neue"/>
              </a:defRPr>
            </a:defPPr>
            <a:lvl1pPr algn="l">
              <a:defRPr sz="2700" b="1">
                <a:solidFill>
                  <a:srgbClr val="153E35"/>
                </a:solidFill>
                <a:latin typeface="Helvetica Neue"/>
                <a:ea typeface="Helvetica Neue"/>
                <a:cs typeface="Helvetica Neue"/>
              </a:defRPr>
            </a:lvl1pPr>
            <a:lvl2pPr algn="l">
              <a:defRPr sz="2700" b="1">
                <a:solidFill>
                  <a:srgbClr val="153E35"/>
                </a:solidFill>
                <a:latin typeface="Helvetica Neue"/>
                <a:ea typeface="Helvetica Neue"/>
                <a:cs typeface="Helvetica Neue"/>
              </a:defRPr>
            </a:lvl2pPr>
            <a:lvl3pPr algn="l">
              <a:defRPr sz="2700" b="1">
                <a:solidFill>
                  <a:srgbClr val="153E35"/>
                </a:solidFill>
                <a:latin typeface="Helvetica Neue"/>
                <a:ea typeface="Helvetica Neue"/>
                <a:cs typeface="Helvetica Neue"/>
              </a:defRPr>
            </a:lvl3pPr>
            <a:lvl4pPr algn="l">
              <a:defRPr sz="2700" b="1">
                <a:solidFill>
                  <a:srgbClr val="153E35"/>
                </a:solidFill>
                <a:latin typeface="Helvetica Neue"/>
                <a:ea typeface="Helvetica Neue"/>
                <a:cs typeface="Helvetica Neue"/>
              </a:defRPr>
            </a:lvl4pPr>
            <a:lvl5pPr algn="l">
              <a:defRPr sz="2700" b="1">
                <a:solidFill>
                  <a:srgbClr val="153E35"/>
                </a:solidFill>
                <a:latin typeface="Helvetica Neue"/>
                <a:ea typeface="Helvetica Neue"/>
                <a:cs typeface="Helvetica Neue"/>
              </a:defRPr>
            </a:lvl5pPr>
            <a:lvl6pPr algn="l">
              <a:defRPr sz="2700" b="1">
                <a:solidFill>
                  <a:srgbClr val="153E35"/>
                </a:solidFill>
                <a:latin typeface="Helvetica Neue"/>
                <a:ea typeface="Helvetica Neue"/>
                <a:cs typeface="Helvetica Neue"/>
              </a:defRPr>
            </a:lvl6pPr>
            <a:lvl7pPr algn="l">
              <a:defRPr sz="2700" b="1">
                <a:solidFill>
                  <a:srgbClr val="153E35"/>
                </a:solidFill>
                <a:latin typeface="Helvetica Neue"/>
                <a:ea typeface="Helvetica Neue"/>
                <a:cs typeface="Helvetica Neue"/>
              </a:defRPr>
            </a:lvl7pPr>
            <a:lvl8pPr algn="l">
              <a:defRPr sz="2700" b="1">
                <a:solidFill>
                  <a:srgbClr val="153E35"/>
                </a:solidFill>
                <a:latin typeface="Helvetica Neue"/>
                <a:ea typeface="Helvetica Neue"/>
                <a:cs typeface="Helvetica Neue"/>
              </a:defRPr>
            </a:lvl8pPr>
            <a:lvl9pPr algn="l">
              <a:defRPr sz="2700" b="1">
                <a:solidFill>
                  <a:srgbClr val="153E35"/>
                </a:solidFill>
                <a:latin typeface="Helvetica Neue"/>
                <a:ea typeface="Helvetica Neue"/>
                <a:cs typeface="Helvetica Neue"/>
              </a:defRPr>
            </a:lvl9pPr>
          </a:lstStyle>
          <a:p xmlns:a="http://schemas.openxmlformats.org/drawingml/2006/main">
            <a:pPr algn="l">
              <a:defRPr sz="2700" b="1">
                <a:solidFill>
                  <a:srgbClr val="153E35"/>
                </a:solidFill>
                <a:latin typeface="Helvetica Neue"/>
                <a:ea typeface="Helvetica Neue"/>
                <a:cs typeface="Helvetica Neue"/>
              </a:defRPr>
            </a:pPr>
            <a:r>
              <a:rPr sz="2700" b="1">
                <a:solidFill>
                  <a:srgbClr val="153E35"/>
                </a:solidFill>
                <a:latin typeface="Helvetica Neue"/>
                <a:ea typeface="Helvetica Neue"/>
                <a:cs typeface="Helvetica Neue"/>
              </a:rPr>
              <a:t>30 steps:</a:t>
            </a:r>
          </a:p>
          <a:p xmlns:a="http://schemas.openxmlformats.org/drawingml/2006/main">
            <a:pPr algn="l">
              <a:defRPr sz="2700" b="1">
                <a:solidFill>
                  <a:srgbClr val="153E35"/>
                </a:solidFill>
                <a:latin typeface="Helvetica Neue"/>
                <a:ea typeface="Helvetica Neue"/>
                <a:cs typeface="Helvetica Neue"/>
              </a:defRPr>
            </a:pPr>
            <a:r>
              <a:rPr sz="2700" b="1">
                <a:solidFill>
                  <a:srgbClr val="153E35"/>
                </a:solidFill>
                <a:latin typeface="Helvetica Neue"/>
                <a:ea typeface="Helvetica Neue"/>
                <a:cs typeface="Helvetica Neue"/>
              </a:rPr>
              <a:t>INVEST 100%</a:t>
            </a:r>
          </a:p>
        </p:txBody>
      </p:sp>
      <p:sp>
        <p:nvSpPr>
          <p:cNvPr id="8" name="full-gap">
            <a:extLst xmlns:a="http://schemas.openxmlformats.org/drawingml/2006/main">
              <a:ext uri="{FF2B5EF4-FFF2-40B4-BE49-F238E27FC236}">
                <a16:creationId xmlns:a16="http://schemas.microsoft.com/office/drawing/2014/main" id="{31C13C57-1440-415E-8ABF-F28C3DE7CC07}"/>
              </a:ext>
            </a:extLst>
          </p:cNvPr>
          <p:cNvSpPr>
            <a:spLocks xmlns:a="http://schemas.openxmlformats.org/drawingml/2006/main" noGrp="1"/>
          </p:cNvSpPr>
          <p:nvPr/>
        </p:nvSpPr>
        <p:spPr>
          <a:xfrm xmlns:a="http://schemas.openxmlformats.org/drawingml/2006/main">
            <a:off x="8058150" y="5048250"/>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56625C"/>
                </a:solidFill>
                <a:latin typeface="Helvetica Neue"/>
                <a:ea typeface="Helvetica Neue"/>
                <a:cs typeface="Helvetica Neue"/>
              </a:defRPr>
            </a:defPPr>
            <a:lvl1pPr algn="l">
              <a:defRPr sz="1800" b="0">
                <a:solidFill>
                  <a:srgbClr val="56625C"/>
                </a:solidFill>
                <a:latin typeface="Helvetica Neue"/>
                <a:ea typeface="Helvetica Neue"/>
                <a:cs typeface="Helvetica Neue"/>
              </a:defRPr>
            </a:lvl1pPr>
            <a:lvl2pPr algn="l">
              <a:defRPr sz="1800" b="0">
                <a:solidFill>
                  <a:srgbClr val="56625C"/>
                </a:solidFill>
                <a:latin typeface="Helvetica Neue"/>
                <a:ea typeface="Helvetica Neue"/>
                <a:cs typeface="Helvetica Neue"/>
              </a:defRPr>
            </a:lvl2pPr>
            <a:lvl3pPr algn="l">
              <a:defRPr sz="1800" b="0">
                <a:solidFill>
                  <a:srgbClr val="56625C"/>
                </a:solidFill>
                <a:latin typeface="Helvetica Neue"/>
                <a:ea typeface="Helvetica Neue"/>
                <a:cs typeface="Helvetica Neue"/>
              </a:defRPr>
            </a:lvl3pPr>
            <a:lvl4pPr algn="l">
              <a:defRPr sz="1800" b="0">
                <a:solidFill>
                  <a:srgbClr val="56625C"/>
                </a:solidFill>
                <a:latin typeface="Helvetica Neue"/>
                <a:ea typeface="Helvetica Neue"/>
                <a:cs typeface="Helvetica Neue"/>
              </a:defRPr>
            </a:lvl4pPr>
            <a:lvl5pPr algn="l">
              <a:defRPr sz="1800" b="0">
                <a:solidFill>
                  <a:srgbClr val="56625C"/>
                </a:solidFill>
                <a:latin typeface="Helvetica Neue"/>
                <a:ea typeface="Helvetica Neue"/>
                <a:cs typeface="Helvetica Neue"/>
              </a:defRPr>
            </a:lvl5pPr>
            <a:lvl6pPr algn="l">
              <a:defRPr sz="1800" b="0">
                <a:solidFill>
                  <a:srgbClr val="56625C"/>
                </a:solidFill>
                <a:latin typeface="Helvetica Neue"/>
                <a:ea typeface="Helvetica Neue"/>
                <a:cs typeface="Helvetica Neue"/>
              </a:defRPr>
            </a:lvl6pPr>
            <a:lvl7pPr algn="l">
              <a:defRPr sz="1800" b="0">
                <a:solidFill>
                  <a:srgbClr val="56625C"/>
                </a:solidFill>
                <a:latin typeface="Helvetica Neue"/>
                <a:ea typeface="Helvetica Neue"/>
                <a:cs typeface="Helvetica Neue"/>
              </a:defRPr>
            </a:lvl7pPr>
            <a:lvl8pPr algn="l">
              <a:defRPr sz="1800" b="0">
                <a:solidFill>
                  <a:srgbClr val="56625C"/>
                </a:solidFill>
                <a:latin typeface="Helvetica Neue"/>
                <a:ea typeface="Helvetica Neue"/>
                <a:cs typeface="Helvetica Neue"/>
              </a:defRPr>
            </a:lvl8pPr>
            <a:lvl9pPr algn="l">
              <a:defRPr sz="1800" b="0">
                <a:solidFill>
                  <a:srgbClr val="56625C"/>
                </a:solidFill>
                <a:latin typeface="Helvetica Neue"/>
                <a:ea typeface="Helvetica Neue"/>
                <a:cs typeface="Helvetica Neue"/>
              </a:defRPr>
            </a:lvl9pPr>
          </a:lstStyle>
          <a:p xmlns:a="http://schemas.openxmlformats.org/drawingml/2006/main">
            <a:pPr algn="l">
              <a:defRPr sz="1800" b="0">
                <a:solidFill>
                  <a:srgbClr val="56625C"/>
                </a:solidFill>
                <a:latin typeface="Helvetica Neue"/>
                <a:ea typeface="Helvetica Neue"/>
                <a:cs typeface="Helvetica Neue"/>
              </a:defRPr>
            </a:pPr>
            <a:r>
              <a:rPr sz="1800" b="0">
                <a:solidFill>
                  <a:srgbClr val="56625C"/>
                </a:solidFill>
                <a:latin typeface="Helvetica Neue"/>
                <a:ea typeface="Helvetica Neue"/>
                <a:cs typeface="Helvetica Neue"/>
              </a:rPr>
              <a:t>Continue − exit: +0.000722</a:t>
            </a:r>
          </a:p>
        </p:txBody>
      </p:sp>
      <p:sp>
        <p:nvSpPr>
          <p:cNvPr id="9" name="changed-count">
            <a:extLst xmlns:a="http://schemas.openxmlformats.org/drawingml/2006/main">
              <a:ext uri="{FF2B5EF4-FFF2-40B4-BE49-F238E27FC236}">
                <a16:creationId xmlns:a16="http://schemas.microsoft.com/office/drawing/2014/main" id="{33629ADE-CCF1-4557-BDF9-815445805E11}"/>
              </a:ext>
            </a:extLst>
          </p:cNvPr>
          <p:cNvSpPr>
            <a:spLocks xmlns:a="http://schemas.openxmlformats.org/drawingml/2006/main" noGrp="1"/>
          </p:cNvSpPr>
          <p:nvPr/>
        </p:nvSpPr>
        <p:spPr>
          <a:xfrm xmlns:a="http://schemas.openxmlformats.org/drawingml/2006/main">
            <a:off x="609600" y="56673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153E35"/>
                </a:solidFill>
                <a:latin typeface="Helvetica Neue"/>
                <a:ea typeface="Helvetica Neue"/>
                <a:cs typeface="Helvetica Neue"/>
              </a:defRPr>
            </a:defPPr>
            <a:lvl1pPr algn="l">
              <a:defRPr sz="2025" b="1">
                <a:solidFill>
                  <a:srgbClr val="153E35"/>
                </a:solidFill>
                <a:latin typeface="Helvetica Neue"/>
                <a:ea typeface="Helvetica Neue"/>
                <a:cs typeface="Helvetica Neue"/>
              </a:defRPr>
            </a:lvl1pPr>
            <a:lvl2pPr algn="l">
              <a:defRPr sz="2025" b="1">
                <a:solidFill>
                  <a:srgbClr val="153E35"/>
                </a:solidFill>
                <a:latin typeface="Helvetica Neue"/>
                <a:ea typeface="Helvetica Neue"/>
                <a:cs typeface="Helvetica Neue"/>
              </a:defRPr>
            </a:lvl2pPr>
            <a:lvl3pPr algn="l">
              <a:defRPr sz="2025" b="1">
                <a:solidFill>
                  <a:srgbClr val="153E35"/>
                </a:solidFill>
                <a:latin typeface="Helvetica Neue"/>
                <a:ea typeface="Helvetica Neue"/>
                <a:cs typeface="Helvetica Neue"/>
              </a:defRPr>
            </a:lvl3pPr>
            <a:lvl4pPr algn="l">
              <a:defRPr sz="2025" b="1">
                <a:solidFill>
                  <a:srgbClr val="153E35"/>
                </a:solidFill>
                <a:latin typeface="Helvetica Neue"/>
                <a:ea typeface="Helvetica Neue"/>
                <a:cs typeface="Helvetica Neue"/>
              </a:defRPr>
            </a:lvl4pPr>
            <a:lvl5pPr algn="l">
              <a:defRPr sz="2025" b="1">
                <a:solidFill>
                  <a:srgbClr val="153E35"/>
                </a:solidFill>
                <a:latin typeface="Helvetica Neue"/>
                <a:ea typeface="Helvetica Neue"/>
                <a:cs typeface="Helvetica Neue"/>
              </a:defRPr>
            </a:lvl5pPr>
            <a:lvl6pPr algn="l">
              <a:defRPr sz="2025" b="1">
                <a:solidFill>
                  <a:srgbClr val="153E35"/>
                </a:solidFill>
                <a:latin typeface="Helvetica Neue"/>
                <a:ea typeface="Helvetica Neue"/>
                <a:cs typeface="Helvetica Neue"/>
              </a:defRPr>
            </a:lvl6pPr>
            <a:lvl7pPr algn="l">
              <a:defRPr sz="2025" b="1">
                <a:solidFill>
                  <a:srgbClr val="153E35"/>
                </a:solidFill>
                <a:latin typeface="Helvetica Neue"/>
                <a:ea typeface="Helvetica Neue"/>
                <a:cs typeface="Helvetica Neue"/>
              </a:defRPr>
            </a:lvl7pPr>
            <a:lvl8pPr algn="l">
              <a:defRPr sz="2025" b="1">
                <a:solidFill>
                  <a:srgbClr val="153E35"/>
                </a:solidFill>
                <a:latin typeface="Helvetica Neue"/>
                <a:ea typeface="Helvetica Neue"/>
                <a:cs typeface="Helvetica Neue"/>
              </a:defRPr>
            </a:lvl8pPr>
            <a:lvl9pPr algn="l">
              <a:defRPr sz="2025" b="1">
                <a:solidFill>
                  <a:srgbClr val="153E35"/>
                </a:solidFill>
                <a:latin typeface="Helvetica Neue"/>
                <a:ea typeface="Helvetica Neue"/>
                <a:cs typeface="Helvetica Neue"/>
              </a:defRPr>
            </a:lvl9pPr>
          </a:lstStyle>
          <a:p xmlns:a="http://schemas.openxmlformats.org/drawingml/2006/main">
            <a:pPr algn="l">
              <a:defRPr sz="2025" b="1">
                <a:solidFill>
                  <a:srgbClr val="153E35"/>
                </a:solidFill>
                <a:latin typeface="Helvetica Neue"/>
                <a:ea typeface="Helvetica Neue"/>
                <a:cs typeface="Helvetica Neue"/>
              </a:defRPr>
            </a:pPr>
            <a:r>
              <a:rPr sz="2025" b="1">
                <a:solidFill>
                  <a:srgbClr val="153E35"/>
                </a:solidFill>
                <a:latin typeface="Helvetica Neue"/>
                <a:ea typeface="Helvetica Neue"/>
                <a:cs typeface="Helvetica Neue"/>
              </a:rPr>
              <a:t>6 of 192 initial decisions change. Historical improvement remains unconfirmed.</a:t>
            </a:r>
          </a:p>
        </p:txBody>
      </p:sp>
      <p:sp>
        <p:nvSpPr>
          <p:cNvPr id="10" name="effect-interval">
            <a:extLst xmlns:a="http://schemas.openxmlformats.org/drawingml/2006/main">
              <a:ext uri="{FF2B5EF4-FFF2-40B4-BE49-F238E27FC236}">
                <a16:creationId xmlns:a16="http://schemas.microsoft.com/office/drawing/2014/main" id="{E2FC8F87-A1BA-4FBA-99DE-907CBE36C67A}"/>
              </a:ext>
            </a:extLst>
          </p:cNvPr>
          <p:cNvSpPr>
            <a:spLocks xmlns:a="http://schemas.openxmlformats.org/drawingml/2006/main" noGrp="1"/>
          </p:cNvSpPr>
          <p:nvPr/>
        </p:nvSpPr>
        <p:spPr>
          <a:xfrm xmlns:a="http://schemas.openxmlformats.org/drawingml/2006/main">
            <a:off x="609600" y="619125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6625C"/>
                </a:solidFill>
                <a:latin typeface="Helvetica Neue"/>
                <a:ea typeface="Helvetica Neue"/>
                <a:cs typeface="Helvetica Neue"/>
              </a:defRPr>
            </a:defPPr>
            <a:lvl1pPr algn="l">
              <a:defRPr sz="1725" b="0">
                <a:solidFill>
                  <a:srgbClr val="56625C"/>
                </a:solidFill>
                <a:latin typeface="Helvetica Neue"/>
                <a:ea typeface="Helvetica Neue"/>
                <a:cs typeface="Helvetica Neue"/>
              </a:defRPr>
            </a:lvl1pPr>
            <a:lvl2pPr algn="l">
              <a:defRPr sz="1725" b="0">
                <a:solidFill>
                  <a:srgbClr val="56625C"/>
                </a:solidFill>
                <a:latin typeface="Helvetica Neue"/>
                <a:ea typeface="Helvetica Neue"/>
                <a:cs typeface="Helvetica Neue"/>
              </a:defRPr>
            </a:lvl2pPr>
            <a:lvl3pPr algn="l">
              <a:defRPr sz="1725" b="0">
                <a:solidFill>
                  <a:srgbClr val="56625C"/>
                </a:solidFill>
                <a:latin typeface="Helvetica Neue"/>
                <a:ea typeface="Helvetica Neue"/>
                <a:cs typeface="Helvetica Neue"/>
              </a:defRPr>
            </a:lvl3pPr>
            <a:lvl4pPr algn="l">
              <a:defRPr sz="1725" b="0">
                <a:solidFill>
                  <a:srgbClr val="56625C"/>
                </a:solidFill>
                <a:latin typeface="Helvetica Neue"/>
                <a:ea typeface="Helvetica Neue"/>
                <a:cs typeface="Helvetica Neue"/>
              </a:defRPr>
            </a:lvl4pPr>
            <a:lvl5pPr algn="l">
              <a:defRPr sz="1725" b="0">
                <a:solidFill>
                  <a:srgbClr val="56625C"/>
                </a:solidFill>
                <a:latin typeface="Helvetica Neue"/>
                <a:ea typeface="Helvetica Neue"/>
                <a:cs typeface="Helvetica Neue"/>
              </a:defRPr>
            </a:lvl5pPr>
            <a:lvl6pPr algn="l">
              <a:defRPr sz="1725" b="0">
                <a:solidFill>
                  <a:srgbClr val="56625C"/>
                </a:solidFill>
                <a:latin typeface="Helvetica Neue"/>
                <a:ea typeface="Helvetica Neue"/>
                <a:cs typeface="Helvetica Neue"/>
              </a:defRPr>
            </a:lvl6pPr>
            <a:lvl7pPr algn="l">
              <a:defRPr sz="1725" b="0">
                <a:solidFill>
                  <a:srgbClr val="56625C"/>
                </a:solidFill>
                <a:latin typeface="Helvetica Neue"/>
                <a:ea typeface="Helvetica Neue"/>
                <a:cs typeface="Helvetica Neue"/>
              </a:defRPr>
            </a:lvl7pPr>
            <a:lvl8pPr algn="l">
              <a:defRPr sz="1725" b="0">
                <a:solidFill>
                  <a:srgbClr val="56625C"/>
                </a:solidFill>
                <a:latin typeface="Helvetica Neue"/>
                <a:ea typeface="Helvetica Neue"/>
                <a:cs typeface="Helvetica Neue"/>
              </a:defRPr>
            </a:lvl8pPr>
            <a:lvl9pPr algn="l">
              <a:defRPr sz="1725" b="0">
                <a:solidFill>
                  <a:srgbClr val="56625C"/>
                </a:solidFill>
                <a:latin typeface="Helvetica Neue"/>
                <a:ea typeface="Helvetica Neue"/>
                <a:cs typeface="Helvetica Neue"/>
              </a:defRPr>
            </a:lvl9pPr>
          </a:lstStyle>
          <a:p xmlns:a="http://schemas.openxmlformats.org/drawingml/2006/main">
            <a:pPr algn="l">
              <a:defRPr sz="1725" b="0">
                <a:solidFill>
                  <a:srgbClr val="56625C"/>
                </a:solidFill>
                <a:latin typeface="Helvetica Neue"/>
                <a:ea typeface="Helvetica Neue"/>
                <a:cs typeface="Helvetica Neue"/>
              </a:defRPr>
            </a:pPr>
            <a:r>
              <a:rPr sz="1725" b="0">
                <a:solidFill>
                  <a:srgbClr val="56625C"/>
                </a:solidFill>
                <a:latin typeface="Helvetica Neue"/>
                <a:ea typeface="Helvetica Neue"/>
                <a:cs typeface="Helvetica Neue"/>
              </a:rPr>
              <a:t>BTC realized utility difference: −0.000708 · 95% block interval [−0.003254, +0.001074]</a:t>
            </a:r>
          </a:p>
          <a:p xmlns:a="http://schemas.openxmlformats.org/drawingml/2006/main">
            <a:pPr algn="l">
              <a:defRPr sz="1725" b="0">
                <a:solidFill>
                  <a:srgbClr val="56625C"/>
                </a:solidFill>
                <a:latin typeface="Helvetica Neue"/>
                <a:ea typeface="Helvetica Neue"/>
                <a:cs typeface="Helvetica Neue"/>
              </a:defRPr>
            </a:pPr>
            <a:r>
              <a:rPr sz="1725" b="0">
                <a:solidFill>
                  <a:srgbClr val="56625C"/>
                </a:solidFill>
                <a:latin typeface="Helvetica Neue"/>
                <a:ea typeface="Helvetica Neue"/>
                <a:cs typeface="Helvetica Neue"/>
              </a:rPr>
              <a:t>The interval includes zero. The chart shows model expectations, not known future returns.</a:t>
            </a:r>
          </a:p>
        </p:txBody>
      </p:sp>
    </p:spTree>
    <p:extLst>
      <p:ext uri="{BB962C8B-B14F-4D97-AF65-F5344CB8AC3E}">
        <p14:creationId xmlns:p14="http://schemas.microsoft.com/office/powerpoint/2010/main" val="1010960781"/>
      </p:ext>
    </p:extLst>
  </p:cSld>
</p:sld>
</file>

<file path=ppt/slides/slide5.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5" name="closing-takeaway">
            <a:extLst xmlns:a="http://schemas.openxmlformats.org/drawingml/2006/main">
              <a:ext uri="{FF2B5EF4-FFF2-40B4-BE49-F238E27FC236}">
                <a16:creationId xmlns:a16="http://schemas.microsoft.com/office/drawing/2014/main" id="{DB80F247-EE24-4EAE-BBDF-8FB494EE369A}"/>
              </a:ext>
            </a:extLst>
          </p:cNvPr>
          <p:cNvSpPr>
            <a:spLocks xmlns:a="http://schemas.openxmlformats.org/drawingml/2006/main" noGrp="1"/>
          </p:cNvSpPr>
          <p:nvPr/>
        </p:nvSpPr>
        <p:spPr>
          <a:xfrm xmlns:a="http://schemas.openxmlformats.org/drawingml/2006/main">
            <a:off x="609600" y="857250"/>
            <a:ext cx="108204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4650" b="1">
                <a:solidFill>
                  <a:srgbClr val="153E35"/>
                </a:solidFill>
                <a:latin typeface="Helvetica Neue"/>
                <a:ea typeface="Helvetica Neue"/>
                <a:cs typeface="Helvetica Neue"/>
              </a:defRPr>
            </a:defPPr>
            <a:lvl1pPr algn="l">
              <a:defRPr sz="4650" b="1">
                <a:solidFill>
                  <a:srgbClr val="153E35"/>
                </a:solidFill>
                <a:latin typeface="Helvetica Neue"/>
                <a:ea typeface="Helvetica Neue"/>
                <a:cs typeface="Helvetica Neue"/>
              </a:defRPr>
            </a:lvl1pPr>
            <a:lvl2pPr algn="l">
              <a:defRPr sz="4650" b="1">
                <a:solidFill>
                  <a:srgbClr val="153E35"/>
                </a:solidFill>
                <a:latin typeface="Helvetica Neue"/>
                <a:ea typeface="Helvetica Neue"/>
                <a:cs typeface="Helvetica Neue"/>
              </a:defRPr>
            </a:lvl2pPr>
            <a:lvl3pPr algn="l">
              <a:defRPr sz="4650" b="1">
                <a:solidFill>
                  <a:srgbClr val="153E35"/>
                </a:solidFill>
                <a:latin typeface="Helvetica Neue"/>
                <a:ea typeface="Helvetica Neue"/>
                <a:cs typeface="Helvetica Neue"/>
              </a:defRPr>
            </a:lvl3pPr>
            <a:lvl4pPr algn="l">
              <a:defRPr sz="4650" b="1">
                <a:solidFill>
                  <a:srgbClr val="153E35"/>
                </a:solidFill>
                <a:latin typeface="Helvetica Neue"/>
                <a:ea typeface="Helvetica Neue"/>
                <a:cs typeface="Helvetica Neue"/>
              </a:defRPr>
            </a:lvl4pPr>
            <a:lvl5pPr algn="l">
              <a:defRPr sz="4650" b="1">
                <a:solidFill>
                  <a:srgbClr val="153E35"/>
                </a:solidFill>
                <a:latin typeface="Helvetica Neue"/>
                <a:ea typeface="Helvetica Neue"/>
                <a:cs typeface="Helvetica Neue"/>
              </a:defRPr>
            </a:lvl5pPr>
            <a:lvl6pPr algn="l">
              <a:defRPr sz="4650" b="1">
                <a:solidFill>
                  <a:srgbClr val="153E35"/>
                </a:solidFill>
                <a:latin typeface="Helvetica Neue"/>
                <a:ea typeface="Helvetica Neue"/>
                <a:cs typeface="Helvetica Neue"/>
              </a:defRPr>
            </a:lvl6pPr>
            <a:lvl7pPr algn="l">
              <a:defRPr sz="4650" b="1">
                <a:solidFill>
                  <a:srgbClr val="153E35"/>
                </a:solidFill>
                <a:latin typeface="Helvetica Neue"/>
                <a:ea typeface="Helvetica Neue"/>
                <a:cs typeface="Helvetica Neue"/>
              </a:defRPr>
            </a:lvl7pPr>
            <a:lvl8pPr algn="l">
              <a:defRPr sz="4650" b="1">
                <a:solidFill>
                  <a:srgbClr val="153E35"/>
                </a:solidFill>
                <a:latin typeface="Helvetica Neue"/>
                <a:ea typeface="Helvetica Neue"/>
                <a:cs typeface="Helvetica Neue"/>
              </a:defRPr>
            </a:lvl8pPr>
            <a:lvl9pPr algn="l">
              <a:defRPr sz="4650" b="1">
                <a:solidFill>
                  <a:srgbClr val="153E35"/>
                </a:solidFill>
                <a:latin typeface="Helvetica Neue"/>
                <a:ea typeface="Helvetica Neue"/>
                <a:cs typeface="Helvetica Neue"/>
              </a:defRPr>
            </a:lvl9pPr>
          </a:lstStyle>
          <a:p xmlns:a="http://schemas.openxmlformats.org/drawingml/2006/main">
            <a:pPr algn="l">
              <a:defRPr sz="4650" b="1">
                <a:solidFill>
                  <a:srgbClr val="153E35"/>
                </a:solidFill>
                <a:latin typeface="Helvetica Neue"/>
                <a:ea typeface="Helvetica Neue"/>
                <a:cs typeface="Helvetica Neue"/>
              </a:defRPr>
            </a:pPr>
            <a:r>
              <a:rPr sz="4650" b="1">
                <a:solidFill>
                  <a:srgbClr val="153E35"/>
                </a:solidFill>
                <a:latin typeface="Helvetica Neue"/>
                <a:ea typeface="Helvetica Neue"/>
                <a:cs typeface="Helvetica Neue"/>
              </a:rPr>
              <a:t>We built a 30-step optimizer.</a:t>
            </a:r>
          </a:p>
          <a:p xmlns:a="http://schemas.openxmlformats.org/drawingml/2006/main">
            <a:pPr algn="l">
              <a:defRPr sz="4650" b="1">
                <a:solidFill>
                  <a:srgbClr val="153E35"/>
                </a:solidFill>
                <a:latin typeface="Helvetica Neue"/>
                <a:ea typeface="Helvetica Neue"/>
                <a:cs typeface="Helvetica Neue"/>
              </a:defRPr>
            </a:pPr>
            <a:r>
              <a:rPr sz="4650" b="1">
                <a:solidFill>
                  <a:srgbClr val="153E35"/>
                </a:solidFill>
                <a:latin typeface="Helvetica Neue"/>
                <a:ea typeface="Helvetica Neue"/>
                <a:cs typeface="Helvetica Neue"/>
              </a:rPr>
              <a:t>At the main setting,</a:t>
            </a:r>
          </a:p>
          <a:p xmlns:a="http://schemas.openxmlformats.org/drawingml/2006/main">
            <a:pPr algn="l">
              <a:defRPr sz="4650" b="1">
                <a:solidFill>
                  <a:srgbClr val="153E35"/>
                </a:solidFill>
                <a:latin typeface="Helvetica Neue"/>
                <a:ea typeface="Helvetica Neue"/>
                <a:cs typeface="Helvetica Neue"/>
              </a:defRPr>
            </a:pPr>
            <a:r>
              <a:rPr sz="4650" b="1">
                <a:solidFill>
                  <a:srgbClr val="153E35"/>
                </a:solidFill>
                <a:latin typeface="Helvetica Neue"/>
                <a:ea typeface="Helvetica Neue"/>
                <a:cs typeface="Helvetica Neue"/>
              </a:rPr>
              <a:t>it tells us to leave.</a:t>
            </a:r>
          </a:p>
        </p:txBody>
      </p:sp>
      <p:sp>
        <p:nvSpPr>
          <p:cNvPr id="2" name="paid-purchase-result">
            <a:extLst xmlns:a="http://schemas.openxmlformats.org/drawingml/2006/main">
              <a:ext uri="{FF2B5EF4-FFF2-40B4-BE49-F238E27FC236}">
                <a16:creationId xmlns:a16="http://schemas.microsoft.com/office/drawing/2014/main" id="{10A61D2A-F4D5-4493-8234-CA4BC7FE8C70}"/>
              </a:ext>
            </a:extLst>
          </p:cNvPr>
          <p:cNvSpPr>
            <a:spLocks xmlns:a="http://schemas.openxmlformats.org/drawingml/2006/main" noGrp="1"/>
          </p:cNvSpPr>
          <p:nvPr/>
        </p:nvSpPr>
        <p:spPr>
          <a:xfrm xmlns:a="http://schemas.openxmlformats.org/drawingml/2006/main">
            <a:off x="647700" y="3629025"/>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700" b="0">
                <a:solidFill>
                  <a:srgbClr val="153E35"/>
                </a:solidFill>
                <a:latin typeface="Helvetica Neue"/>
                <a:ea typeface="Helvetica Neue"/>
                <a:cs typeface="Helvetica Neue"/>
              </a:defRPr>
            </a:defPPr>
            <a:lvl1pPr algn="l">
              <a:defRPr sz="2700" b="0">
                <a:solidFill>
                  <a:srgbClr val="153E35"/>
                </a:solidFill>
                <a:latin typeface="Helvetica Neue"/>
                <a:ea typeface="Helvetica Neue"/>
                <a:cs typeface="Helvetica Neue"/>
              </a:defRPr>
            </a:lvl1pPr>
            <a:lvl2pPr algn="l">
              <a:defRPr sz="2700" b="0">
                <a:solidFill>
                  <a:srgbClr val="153E35"/>
                </a:solidFill>
                <a:latin typeface="Helvetica Neue"/>
                <a:ea typeface="Helvetica Neue"/>
                <a:cs typeface="Helvetica Neue"/>
              </a:defRPr>
            </a:lvl2pPr>
            <a:lvl3pPr algn="l">
              <a:defRPr sz="2700" b="0">
                <a:solidFill>
                  <a:srgbClr val="153E35"/>
                </a:solidFill>
                <a:latin typeface="Helvetica Neue"/>
                <a:ea typeface="Helvetica Neue"/>
                <a:cs typeface="Helvetica Neue"/>
              </a:defRPr>
            </a:lvl3pPr>
            <a:lvl4pPr algn="l">
              <a:defRPr sz="2700" b="0">
                <a:solidFill>
                  <a:srgbClr val="153E35"/>
                </a:solidFill>
                <a:latin typeface="Helvetica Neue"/>
                <a:ea typeface="Helvetica Neue"/>
                <a:cs typeface="Helvetica Neue"/>
              </a:defRPr>
            </a:lvl4pPr>
            <a:lvl5pPr algn="l">
              <a:defRPr sz="2700" b="0">
                <a:solidFill>
                  <a:srgbClr val="153E35"/>
                </a:solidFill>
                <a:latin typeface="Helvetica Neue"/>
                <a:ea typeface="Helvetica Neue"/>
                <a:cs typeface="Helvetica Neue"/>
              </a:defRPr>
            </a:lvl5pPr>
            <a:lvl6pPr algn="l">
              <a:defRPr sz="2700" b="0">
                <a:solidFill>
                  <a:srgbClr val="153E35"/>
                </a:solidFill>
                <a:latin typeface="Helvetica Neue"/>
                <a:ea typeface="Helvetica Neue"/>
                <a:cs typeface="Helvetica Neue"/>
              </a:defRPr>
            </a:lvl6pPr>
            <a:lvl7pPr algn="l">
              <a:defRPr sz="2700" b="0">
                <a:solidFill>
                  <a:srgbClr val="153E35"/>
                </a:solidFill>
                <a:latin typeface="Helvetica Neue"/>
                <a:ea typeface="Helvetica Neue"/>
                <a:cs typeface="Helvetica Neue"/>
              </a:defRPr>
            </a:lvl7pPr>
            <a:lvl8pPr algn="l">
              <a:defRPr sz="2700" b="0">
                <a:solidFill>
                  <a:srgbClr val="153E35"/>
                </a:solidFill>
                <a:latin typeface="Helvetica Neue"/>
                <a:ea typeface="Helvetica Neue"/>
                <a:cs typeface="Helvetica Neue"/>
              </a:defRPr>
            </a:lvl8pPr>
            <a:lvl9pPr algn="l">
              <a:defRPr sz="2700" b="0">
                <a:solidFill>
                  <a:srgbClr val="153E35"/>
                </a:solidFill>
                <a:latin typeface="Helvetica Neue"/>
                <a:ea typeface="Helvetica Neue"/>
                <a:cs typeface="Helvetica Neue"/>
              </a:defRPr>
            </a:lvl9pPr>
          </a:lstStyle>
          <a:p xmlns:a="http://schemas.openxmlformats.org/drawingml/2006/main">
            <a:pPr algn="l">
              <a:defRPr sz="2700" b="0">
                <a:solidFill>
                  <a:srgbClr val="153E35"/>
                </a:solidFill>
                <a:latin typeface="Helvetica Neue"/>
                <a:ea typeface="Helvetica Neue"/>
                <a:cs typeface="Helvetica Neue"/>
              </a:defRPr>
            </a:pPr>
            <a:r>
              <a:rPr sz="2700" b="0">
                <a:solidFill>
                  <a:srgbClr val="153E35"/>
                </a:solidFill>
                <a:latin typeface="Helvetica Neue"/>
                <a:ea typeface="Helvetica Neue"/>
                <a:cs typeface="Helvetica Neue"/>
              </a:rPr>
              <a:t>The 30-step planner buys no extra time</a:t>
            </a:r>
          </a:p>
          <a:p xmlns:a="http://schemas.openxmlformats.org/drawingml/2006/main">
            <a:pPr algn="l">
              <a:defRPr sz="2700" b="0">
                <a:solidFill>
                  <a:srgbClr val="153E35"/>
                </a:solidFill>
                <a:latin typeface="Helvetica Neue"/>
                <a:ea typeface="Helvetica Neue"/>
                <a:cs typeface="Helvetica Neue"/>
              </a:defRPr>
            </a:pPr>
            <a:r>
              <a:rPr sz="2700" b="0">
                <a:solidFill>
                  <a:srgbClr val="153E35"/>
                </a:solidFill>
                <a:latin typeface="Helvetica Neue"/>
                <a:ea typeface="Helvetica Neue"/>
                <a:cs typeface="Helvetica Neue"/>
              </a:rPr>
              <a:t>during trading at prices 8 or 2.</a:t>
            </a:r>
          </a:p>
        </p:txBody>
      </p:sp>
      <p:sp>
        <p:nvSpPr>
          <p:cNvPr id="3" name="limits-and-next">
            <a:extLst xmlns:a="http://schemas.openxmlformats.org/drawingml/2006/main">
              <a:ext uri="{FF2B5EF4-FFF2-40B4-BE49-F238E27FC236}">
                <a16:creationId xmlns:a16="http://schemas.microsoft.com/office/drawing/2014/main" id="{E965A4A3-7CF7-4586-A497-0132A535EC62}"/>
              </a:ext>
            </a:extLst>
          </p:cNvPr>
          <p:cNvSpPr>
            <a:spLocks xmlns:a="http://schemas.openxmlformats.org/drawingml/2006/main" noGrp="1"/>
          </p:cNvSpPr>
          <p:nvPr/>
        </p:nvSpPr>
        <p:spPr>
          <a:xfrm xmlns:a="http://schemas.openxmlformats.org/drawingml/2006/main">
            <a:off x="647700" y="5048250"/>
            <a:ext cx="10572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0">
                <a:solidFill>
                  <a:srgbClr val="56625C"/>
                </a:solidFill>
                <a:latin typeface="Helvetica Neue"/>
                <a:ea typeface="Helvetica Neue"/>
                <a:cs typeface="Helvetica Neue"/>
              </a:defRPr>
            </a:defPPr>
            <a:lvl1pPr algn="l">
              <a:defRPr sz="2175" b="0">
                <a:solidFill>
                  <a:srgbClr val="56625C"/>
                </a:solidFill>
                <a:latin typeface="Helvetica Neue"/>
                <a:ea typeface="Helvetica Neue"/>
                <a:cs typeface="Helvetica Neue"/>
              </a:defRPr>
            </a:lvl1pPr>
            <a:lvl2pPr algn="l">
              <a:defRPr sz="2175" b="0">
                <a:solidFill>
                  <a:srgbClr val="56625C"/>
                </a:solidFill>
                <a:latin typeface="Helvetica Neue"/>
                <a:ea typeface="Helvetica Neue"/>
                <a:cs typeface="Helvetica Neue"/>
              </a:defRPr>
            </a:lvl2pPr>
            <a:lvl3pPr algn="l">
              <a:defRPr sz="2175" b="0">
                <a:solidFill>
                  <a:srgbClr val="56625C"/>
                </a:solidFill>
                <a:latin typeface="Helvetica Neue"/>
                <a:ea typeface="Helvetica Neue"/>
                <a:cs typeface="Helvetica Neue"/>
              </a:defRPr>
            </a:lvl3pPr>
            <a:lvl4pPr algn="l">
              <a:defRPr sz="2175" b="0">
                <a:solidFill>
                  <a:srgbClr val="56625C"/>
                </a:solidFill>
                <a:latin typeface="Helvetica Neue"/>
                <a:ea typeface="Helvetica Neue"/>
                <a:cs typeface="Helvetica Neue"/>
              </a:defRPr>
            </a:lvl4pPr>
            <a:lvl5pPr algn="l">
              <a:defRPr sz="2175" b="0">
                <a:solidFill>
                  <a:srgbClr val="56625C"/>
                </a:solidFill>
                <a:latin typeface="Helvetica Neue"/>
                <a:ea typeface="Helvetica Neue"/>
                <a:cs typeface="Helvetica Neue"/>
              </a:defRPr>
            </a:lvl5pPr>
            <a:lvl6pPr algn="l">
              <a:defRPr sz="2175" b="0">
                <a:solidFill>
                  <a:srgbClr val="56625C"/>
                </a:solidFill>
                <a:latin typeface="Helvetica Neue"/>
                <a:ea typeface="Helvetica Neue"/>
                <a:cs typeface="Helvetica Neue"/>
              </a:defRPr>
            </a:lvl6pPr>
            <a:lvl7pPr algn="l">
              <a:defRPr sz="2175" b="0">
                <a:solidFill>
                  <a:srgbClr val="56625C"/>
                </a:solidFill>
                <a:latin typeface="Helvetica Neue"/>
                <a:ea typeface="Helvetica Neue"/>
                <a:cs typeface="Helvetica Neue"/>
              </a:defRPr>
            </a:lvl7pPr>
            <a:lvl8pPr algn="l">
              <a:defRPr sz="2175" b="0">
                <a:solidFill>
                  <a:srgbClr val="56625C"/>
                </a:solidFill>
                <a:latin typeface="Helvetica Neue"/>
                <a:ea typeface="Helvetica Neue"/>
                <a:cs typeface="Helvetica Neue"/>
              </a:defRPr>
            </a:lvl8pPr>
            <a:lvl9pPr algn="l">
              <a:defRPr sz="2175" b="0">
                <a:solidFill>
                  <a:srgbClr val="56625C"/>
                </a:solidFill>
                <a:latin typeface="Helvetica Neue"/>
                <a:ea typeface="Helvetica Neue"/>
                <a:cs typeface="Helvetica Neue"/>
              </a:defRPr>
            </a:lvl9pPr>
          </a:lstStyle>
          <a:p xmlns:a="http://schemas.openxmlformats.org/drawingml/2006/main">
            <a:pPr algn="l">
              <a:defRPr sz="2175" b="0">
                <a:solidFill>
                  <a:srgbClr val="56625C"/>
                </a:solidFill>
                <a:latin typeface="Helvetica Neue"/>
                <a:ea typeface="Helvetica Neue"/>
                <a:cs typeface="Helvetica Neue"/>
              </a:defRPr>
            </a:pPr>
            <a:r>
              <a:rPr sz="2175" b="0">
                <a:solidFill>
                  <a:srgbClr val="56625C"/>
                </a:solidFill>
                <a:latin typeface="Helvetica Neue"/>
                <a:ea typeface="Helvetica Neue"/>
                <a:cs typeface="Helvetica Neue"/>
              </a:rPr>
              <a:t>Real prices; assumed time costs and preferences.</a:t>
            </a:r>
          </a:p>
          <a:p xmlns:a="http://schemas.openxmlformats.org/drawingml/2006/main">
            <a:pPr algn="l">
              <a:defRPr sz="2175" b="0">
                <a:solidFill>
                  <a:srgbClr val="56625C"/>
                </a:solidFill>
                <a:latin typeface="Helvetica Neue"/>
                <a:ea typeface="Helvetica Neue"/>
                <a:cs typeface="Helvetica Neue"/>
              </a:defRPr>
            </a:pPr>
            <a:r>
              <a:rPr sz="2175" b="0">
                <a:solidFill>
                  <a:srgbClr val="56625C"/>
                </a:solidFill>
                <a:latin typeface="Helvetica Neue"/>
                <a:ea typeface="Helvetica Neue"/>
                <a:cs typeface="Helvetica Neue"/>
              </a:rPr>
              <a:t>The next test needs genuinely unseen data.</a:t>
            </a:r>
          </a:p>
        </p:txBody>
      </p:sp>
      <p:sp>
        <p:nvSpPr>
          <p:cNvPr id="4" name="project-credits">
            <a:extLst xmlns:a="http://schemas.openxmlformats.org/drawingml/2006/main">
              <a:ext uri="{FF2B5EF4-FFF2-40B4-BE49-F238E27FC236}">
                <a16:creationId xmlns:a16="http://schemas.microsoft.com/office/drawing/2014/main" id="{883D49BD-3921-4ECF-8859-D970B2E434FE}"/>
              </a:ext>
            </a:extLst>
          </p:cNvPr>
          <p:cNvSpPr>
            <a:spLocks xmlns:a="http://schemas.openxmlformats.org/drawingml/2006/main" noGrp="1"/>
          </p:cNvSpPr>
          <p:nvPr/>
        </p:nvSpPr>
        <p:spPr>
          <a:xfrm xmlns:a="http://schemas.openxmlformats.org/drawingml/2006/main">
            <a:off x="647700" y="61531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6625C"/>
                </a:solidFill>
                <a:latin typeface="Helvetica Neue"/>
                <a:ea typeface="Helvetica Neue"/>
                <a:cs typeface="Helvetica Neue"/>
              </a:defRPr>
            </a:defPPr>
            <a:lvl1pPr algn="l">
              <a:defRPr sz="1725" b="0">
                <a:solidFill>
                  <a:srgbClr val="56625C"/>
                </a:solidFill>
                <a:latin typeface="Helvetica Neue"/>
                <a:ea typeface="Helvetica Neue"/>
                <a:cs typeface="Helvetica Neue"/>
              </a:defRPr>
            </a:lvl1pPr>
            <a:lvl2pPr algn="l">
              <a:defRPr sz="1725" b="0">
                <a:solidFill>
                  <a:srgbClr val="56625C"/>
                </a:solidFill>
                <a:latin typeface="Helvetica Neue"/>
                <a:ea typeface="Helvetica Neue"/>
                <a:cs typeface="Helvetica Neue"/>
              </a:defRPr>
            </a:lvl2pPr>
            <a:lvl3pPr algn="l">
              <a:defRPr sz="1725" b="0">
                <a:solidFill>
                  <a:srgbClr val="56625C"/>
                </a:solidFill>
                <a:latin typeface="Helvetica Neue"/>
                <a:ea typeface="Helvetica Neue"/>
                <a:cs typeface="Helvetica Neue"/>
              </a:defRPr>
            </a:lvl3pPr>
            <a:lvl4pPr algn="l">
              <a:defRPr sz="1725" b="0">
                <a:solidFill>
                  <a:srgbClr val="56625C"/>
                </a:solidFill>
                <a:latin typeface="Helvetica Neue"/>
                <a:ea typeface="Helvetica Neue"/>
                <a:cs typeface="Helvetica Neue"/>
              </a:defRPr>
            </a:lvl4pPr>
            <a:lvl5pPr algn="l">
              <a:defRPr sz="1725" b="0">
                <a:solidFill>
                  <a:srgbClr val="56625C"/>
                </a:solidFill>
                <a:latin typeface="Helvetica Neue"/>
                <a:ea typeface="Helvetica Neue"/>
                <a:cs typeface="Helvetica Neue"/>
              </a:defRPr>
            </a:lvl5pPr>
            <a:lvl6pPr algn="l">
              <a:defRPr sz="1725" b="0">
                <a:solidFill>
                  <a:srgbClr val="56625C"/>
                </a:solidFill>
                <a:latin typeface="Helvetica Neue"/>
                <a:ea typeface="Helvetica Neue"/>
                <a:cs typeface="Helvetica Neue"/>
              </a:defRPr>
            </a:lvl6pPr>
            <a:lvl7pPr algn="l">
              <a:defRPr sz="1725" b="0">
                <a:solidFill>
                  <a:srgbClr val="56625C"/>
                </a:solidFill>
                <a:latin typeface="Helvetica Neue"/>
                <a:ea typeface="Helvetica Neue"/>
                <a:cs typeface="Helvetica Neue"/>
              </a:defRPr>
            </a:lvl7pPr>
            <a:lvl8pPr algn="l">
              <a:defRPr sz="1725" b="0">
                <a:solidFill>
                  <a:srgbClr val="56625C"/>
                </a:solidFill>
                <a:latin typeface="Helvetica Neue"/>
                <a:ea typeface="Helvetica Neue"/>
                <a:cs typeface="Helvetica Neue"/>
              </a:defRPr>
            </a:lvl8pPr>
            <a:lvl9pPr algn="l">
              <a:defRPr sz="1725" b="0">
                <a:solidFill>
                  <a:srgbClr val="56625C"/>
                </a:solidFill>
                <a:latin typeface="Helvetica Neue"/>
                <a:ea typeface="Helvetica Neue"/>
                <a:cs typeface="Helvetica Neue"/>
              </a:defRPr>
            </a:lvl9pPr>
          </a:lstStyle>
          <a:p xmlns:a="http://schemas.openxmlformats.org/drawingml/2006/main">
            <a:pPr algn="l">
              <a:defRPr sz="1725" b="0">
                <a:solidFill>
                  <a:srgbClr val="56625C"/>
                </a:solidFill>
                <a:latin typeface="Helvetica Neue"/>
                <a:ea typeface="Helvetica Neue"/>
                <a:cs typeface="Helvetica Neue"/>
              </a:defRPr>
            </a:pPr>
            <a:r>
              <a:rPr sz="1725" b="0">
                <a:solidFill>
                  <a:srgbClr val="56625C"/>
                </a:solidFill>
                <a:latin typeface="Helvetica Neue"/>
                <a:ea typeface="Helvetica Neue"/>
                <a:cs typeface="Helvetica Neue"/>
              </a:rPr>
              <a:t>Python + NumPy + React · AI-assisted build</a:t>
            </a:r>
          </a:p>
          <a:p xmlns:a="http://schemas.openxmlformats.org/drawingml/2006/main">
            <a:pPr algn="l">
              <a:defRPr sz="1725" b="0">
                <a:solidFill>
                  <a:srgbClr val="56625C"/>
                </a:solidFill>
                <a:latin typeface="Helvetica Neue"/>
                <a:ea typeface="Helvetica Neue"/>
                <a:cs typeface="Helvetica Neue"/>
              </a:defRPr>
            </a:pPr>
            <a:r>
              <a:rPr sz="1725" b="0">
                <a:solidFill>
                  <a:srgbClr val="56625C"/>
                </a:solidFill>
                <a:latin typeface="Helvetica Neue"/>
                <a:ea typeface="Helvetica Neue"/>
                <a:cs typeface="Helvetica Neue"/>
              </a:rPr>
              <a:t>12 tests; 391,772 account-ledger events independently checked</a:t>
            </a:r>
          </a:p>
        </p:txBody>
      </p:sp>
    </p:spTree>
    <p:extLst>
      <p:ext uri="{BB962C8B-B14F-4D97-AF65-F5344CB8AC3E}">
        <p14:creationId xmlns:p14="http://schemas.microsoft.com/office/powerpoint/2010/main" val="9813859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2026-10-24T22:59:32.0970000Z</dcterms:created>
  <dcterms:modified xsi:type="dcterms:W3CDTF">2026-10-24T22:59:32.0970000Z</dcterms:modified>
</coreProperties>
</file>